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Default Extension="wmf" ContentType="image/x-wmf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embeddings/oleObject1.bin" ContentType="application/vnd.openxmlformats-officedocument.oleObject"/>
  <Override PartName="/ppt/notesSlides/notesSlide6.xml" ContentType="application/vnd.openxmlformats-officedocument.presentationml.notesSlide+xml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Default Extension="vml" ContentType="application/vnd.openxmlformats-officedocument.vmlDrawin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7.xml" ContentType="application/vnd.openxmlformats-officedocument.presentationml.tags+xml"/>
  <Override PartName="/ppt/tags/tag5.xml" ContentType="application/vnd.openxmlformats-officedocument.presentationml.tags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15.xml" ContentType="application/vnd.openxmlformats-officedocument.presentationml.slide+xml"/>
  <Default Extension="bin" ContentType="application/vnd.openxmlformats-officedocument.presentationml.printerSettings"/>
  <Default Extension="rels" ContentType="application/vnd.openxmlformats-package.relationships+xml"/>
  <Override PartName="/ppt/slides/slide9.xml" ContentType="application/vnd.openxmlformats-officedocument.presentationml.slide+xml"/>
  <Override PartName="/ppt/tags/tag1.xml" ContentType="application/vnd.openxmlformats-officedocument.presentationml.tags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tags/tag6.xml" ContentType="application/vnd.openxmlformats-officedocument.presentationml.tags+xml"/>
  <Override PartName="/ppt/slideLayouts/slideLayout12.xml" ContentType="application/vnd.openxmlformats-officedocument.presentationml.slideLayout+xml"/>
  <Override PartName="/ppt/slides/slide12.xml" ContentType="application/vnd.openxmlformats-officedocument.presentationml.slide+xml"/>
  <Override PartName="/ppt/tags/tag2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703" r:id="rId1"/>
  </p:sldMasterIdLst>
  <p:notesMasterIdLst>
    <p:notesMasterId r:id="rId20"/>
  </p:notesMasterIdLst>
  <p:handoutMasterIdLst>
    <p:handoutMasterId r:id="rId21"/>
  </p:handoutMasterIdLst>
  <p:sldIdLst>
    <p:sldId id="286" r:id="rId2"/>
    <p:sldId id="299" r:id="rId3"/>
    <p:sldId id="307" r:id="rId4"/>
    <p:sldId id="308" r:id="rId5"/>
    <p:sldId id="309" r:id="rId6"/>
    <p:sldId id="298" r:id="rId7"/>
    <p:sldId id="321" r:id="rId8"/>
    <p:sldId id="293" r:id="rId9"/>
    <p:sldId id="295" r:id="rId10"/>
    <p:sldId id="297" r:id="rId11"/>
    <p:sldId id="310" r:id="rId12"/>
    <p:sldId id="322" r:id="rId13"/>
    <p:sldId id="313" r:id="rId14"/>
    <p:sldId id="314" r:id="rId15"/>
    <p:sldId id="319" r:id="rId16"/>
    <p:sldId id="316" r:id="rId17"/>
    <p:sldId id="317" r:id="rId18"/>
    <p:sldId id="318" r:id="rId19"/>
  </p:sldIdLst>
  <p:sldSz cx="9144000" cy="6858000" type="screen4x3"/>
  <p:notesSz cx="7077075" cy="93932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encoding="windows-1252"/>
  <p:clrMru>
    <a:srgbClr val="002C77"/>
    <a:srgbClr val="CC3300"/>
    <a:srgbClr val="3333CC"/>
    <a:srgbClr val="981E32"/>
    <a:srgbClr val="993300"/>
    <a:srgbClr val="FFFF9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 showOutlineIcons="0" horzBarState="maximized">
    <p:restoredLeft sz="11765" autoAdjust="0"/>
    <p:restoredTop sz="94660"/>
  </p:normalViewPr>
  <p:slideViewPr>
    <p:cSldViewPr>
      <p:cViewPr>
        <p:scale>
          <a:sx n="80" d="100"/>
          <a:sy n="80" d="100"/>
        </p:scale>
        <p:origin x="-2736" y="-17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-738" y="-78"/>
      </p:cViewPr>
      <p:guideLst>
        <p:guide orient="horz" pos="2959"/>
        <p:guide pos="2229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9" Type="http://schemas.openxmlformats.org/officeDocument/2006/relationships/slide" Target="slides/slide8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14" Type="http://schemas.openxmlformats.org/officeDocument/2006/relationships/slide" Target="slides/slide13.xml"/><Relationship Id="rId23" Type="http://schemas.openxmlformats.org/officeDocument/2006/relationships/presProps" Target="presProps.xml"/><Relationship Id="rId4" Type="http://schemas.openxmlformats.org/officeDocument/2006/relationships/slide" Target="slides/slide3.xml"/><Relationship Id="rId26" Type="http://schemas.openxmlformats.org/officeDocument/2006/relationships/tableStyles" Target="tableStyles.xml"/><Relationship Id="rId11" Type="http://schemas.openxmlformats.org/officeDocument/2006/relationships/slide" Target="slides/slide10.xml"/><Relationship Id="rId6" Type="http://schemas.openxmlformats.org/officeDocument/2006/relationships/slide" Target="slides/slide5.xml"/><Relationship Id="rId16" Type="http://schemas.openxmlformats.org/officeDocument/2006/relationships/slide" Target="slides/slide1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2" Type="http://schemas.openxmlformats.org/officeDocument/2006/relationships/printerSettings" Target="printerSettings/printerSettings1.bin"/><Relationship Id="rId21" Type="http://schemas.openxmlformats.org/officeDocument/2006/relationships/handoutMaster" Target="handoutMasters/handout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kartik\AppData\Local\Temp\Wharton_iLike_Graph_v4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"/>
  <c:chart>
    <c:title>
      <c:tx>
        <c:rich>
          <a:bodyPr/>
          <a:lstStyle/>
          <a:p>
            <a:pPr>
              <a:defRPr sz="1800" b="1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/>
              <a:t>Monthly Songs Added (Median) by User Type</a:t>
            </a:r>
          </a:p>
        </c:rich>
      </c:tx>
      <c:layout>
        <c:manualLayout>
          <c:xMode val="edge"/>
          <c:yMode val="edge"/>
          <c:x val="0.249041487326696"/>
          <c:y val="0.00105736782902137"/>
        </c:manualLayout>
      </c:layout>
      <c:spPr>
        <a:noFill/>
        <a:ln w="25400">
          <a:noFill/>
        </a:ln>
      </c:spPr>
    </c:title>
    <c:plotArea>
      <c:layout>
        <c:manualLayout>
          <c:layoutTarget val="inner"/>
          <c:xMode val="edge"/>
          <c:yMode val="edge"/>
          <c:x val="0.126593583356798"/>
          <c:y val="0.0648989709619632"/>
          <c:w val="0.853496115427303"/>
          <c:h val="0.735836280493906"/>
        </c:manualLayout>
      </c:layout>
      <c:lineChart>
        <c:grouping val="standard"/>
        <c:ser>
          <c:idx val="0"/>
          <c:order val="0"/>
          <c:tx>
            <c:v>iLike Users</c:v>
          </c:tx>
          <c:dLbls>
            <c:dLbl>
              <c:idx val="3"/>
              <c:layout>
                <c:manualLayout>
                  <c:x val="0.186618496902497"/>
                  <c:y val="0.266732899078257"/>
                </c:manualLayout>
              </c:layout>
              <c:tx>
                <c:rich>
                  <a:bodyPr/>
                  <a:lstStyle/>
                  <a:p>
                    <a:pPr>
                      <a:defRPr sz="1200" b="1" i="0" u="none" strike="noStrike" baseline="0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</a:defRPr>
                    </a:pPr>
                    <a:r>
                      <a:rPr lang="en-US"/>
                      <a:t>iLike Users</a:t>
                    </a:r>
                  </a:p>
                </c:rich>
              </c:tx>
              <c:numFmt formatCode="General" sourceLinked="0"/>
              <c:spPr>
                <a:noFill/>
                <a:ln w="25400">
                  <a:noFill/>
                </a:ln>
              </c:spPr>
              <c:dLblPos val="r"/>
            </c:dLbl>
            <c:delete val="1"/>
          </c:dLbls>
          <c:cat>
            <c:strRef>
              <c:f>'Cutoff at 500'!$B$1:$I$1</c:f>
              <c:strCache>
                <c:ptCount val="8"/>
                <c:pt idx="0">
                  <c:v>December (2006)</c:v>
                </c:pt>
                <c:pt idx="1">
                  <c:v>January</c:v>
                </c:pt>
                <c:pt idx="2">
                  <c:v>February</c:v>
                </c:pt>
                <c:pt idx="3">
                  <c:v>March</c:v>
                </c:pt>
                <c:pt idx="4">
                  <c:v>April</c:v>
                </c:pt>
                <c:pt idx="5">
                  <c:v>May </c:v>
                </c:pt>
                <c:pt idx="6">
                  <c:v>June</c:v>
                </c:pt>
                <c:pt idx="7">
                  <c:v>July</c:v>
                </c:pt>
              </c:strCache>
            </c:strRef>
          </c:cat>
          <c:val>
            <c:numRef>
              <c:f>'Cutoff at 500'!$B$3:$I$3</c:f>
              <c:numCache>
                <c:formatCode>General</c:formatCode>
                <c:ptCount val="8"/>
                <c:pt idx="0">
                  <c:v>15.0</c:v>
                </c:pt>
                <c:pt idx="1">
                  <c:v>14.0</c:v>
                </c:pt>
                <c:pt idx="2">
                  <c:v>12.0</c:v>
                </c:pt>
                <c:pt idx="3">
                  <c:v>41.0</c:v>
                </c:pt>
                <c:pt idx="4">
                  <c:v>27.0</c:v>
                </c:pt>
                <c:pt idx="5">
                  <c:v>23.0</c:v>
                </c:pt>
                <c:pt idx="6">
                  <c:v>21.0</c:v>
                </c:pt>
                <c:pt idx="7">
                  <c:v>18.0</c:v>
                </c:pt>
              </c:numCache>
            </c:numRef>
          </c:val>
        </c:ser>
        <c:ser>
          <c:idx val="1"/>
          <c:order val="1"/>
          <c:tx>
            <c:v>Control</c:v>
          </c:tx>
          <c:dLbls>
            <c:dLbl>
              <c:idx val="5"/>
              <c:layout>
                <c:manualLayout>
                  <c:x val="-0.0352487361351054"/>
                  <c:y val="-0.0383860059981121"/>
                </c:manualLayout>
              </c:layout>
              <c:tx>
                <c:rich>
                  <a:bodyPr/>
                  <a:lstStyle/>
                  <a:p>
                    <a:pPr>
                      <a:defRPr sz="1200" b="1" i="0" u="none" strike="noStrike" baseline="0">
                        <a:solidFill>
                          <a:srgbClr val="DD0806"/>
                        </a:solidFill>
                        <a:latin typeface="Calibri"/>
                        <a:ea typeface="Calibri"/>
                        <a:cs typeface="Calibri"/>
                      </a:defRPr>
                    </a:pPr>
                    <a:r>
                      <a:rPr lang="en-US"/>
                      <a:t>control</a:t>
                    </a:r>
                  </a:p>
                </c:rich>
              </c:tx>
              <c:spPr>
                <a:noFill/>
                <a:ln w="25400">
                  <a:noFill/>
                </a:ln>
              </c:spPr>
              <c:dLblPos val="r"/>
            </c:dLbl>
            <c:delete val="1"/>
          </c:dLbls>
          <c:cat>
            <c:strRef>
              <c:f>'Cutoff at 500'!$B$1:$I$1</c:f>
              <c:strCache>
                <c:ptCount val="8"/>
                <c:pt idx="0">
                  <c:v>December (2006)</c:v>
                </c:pt>
                <c:pt idx="1">
                  <c:v>January</c:v>
                </c:pt>
                <c:pt idx="2">
                  <c:v>February</c:v>
                </c:pt>
                <c:pt idx="3">
                  <c:v>March</c:v>
                </c:pt>
                <c:pt idx="4">
                  <c:v>April</c:v>
                </c:pt>
                <c:pt idx="5">
                  <c:v>May </c:v>
                </c:pt>
                <c:pt idx="6">
                  <c:v>June</c:v>
                </c:pt>
                <c:pt idx="7">
                  <c:v>July</c:v>
                </c:pt>
              </c:strCache>
            </c:strRef>
          </c:cat>
          <c:val>
            <c:numRef>
              <c:f>'Cutoff at 500'!$B$4:$H$4</c:f>
              <c:numCache>
                <c:formatCode>General</c:formatCode>
                <c:ptCount val="7"/>
                <c:pt idx="0">
                  <c:v>10.0</c:v>
                </c:pt>
                <c:pt idx="1">
                  <c:v>9.0</c:v>
                </c:pt>
                <c:pt idx="2">
                  <c:v>7.0</c:v>
                </c:pt>
                <c:pt idx="3">
                  <c:v>8.0</c:v>
                </c:pt>
                <c:pt idx="4">
                  <c:v>8.0</c:v>
                </c:pt>
                <c:pt idx="5">
                  <c:v>10.0</c:v>
                </c:pt>
                <c:pt idx="6">
                  <c:v>7.0</c:v>
                </c:pt>
              </c:numCache>
            </c:numRef>
          </c:val>
        </c:ser>
        <c:dLbls>
          <c:showVal val="1"/>
        </c:dLbls>
        <c:marker val="1"/>
        <c:axId val="481798680"/>
        <c:axId val="481802072"/>
      </c:lineChart>
      <c:catAx>
        <c:axId val="481798680"/>
        <c:scaling>
          <c:orientation val="minMax"/>
        </c:scaling>
        <c:axPos val="b"/>
        <c:numFmt formatCode="General" sourceLinked="1"/>
        <c:maj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1802072"/>
        <c:crosses val="autoZero"/>
        <c:auto val="1"/>
        <c:lblAlgn val="ctr"/>
        <c:lblOffset val="100"/>
      </c:catAx>
      <c:valAx>
        <c:axId val="481802072"/>
        <c:scaling>
          <c:orientation val="minMax"/>
        </c:scaling>
        <c:axPos val="l"/>
        <c:majorGridlines/>
        <c:title>
          <c:tx>
            <c:rich>
              <a:bodyPr rot="0" vert="horz"/>
              <a:lstStyle/>
              <a:p>
                <a:pPr algn="ctr">
                  <a:defRPr sz="16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 dirty="0"/>
                  <a:t>Number </a:t>
                </a:r>
                <a:endParaRPr lang="en-US" dirty="0" smtClean="0"/>
              </a:p>
              <a:p>
                <a:pPr algn="ctr">
                  <a:defRPr sz="16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 dirty="0" smtClean="0"/>
                  <a:t>of </a:t>
                </a:r>
              </a:p>
              <a:p>
                <a:pPr algn="ctr">
                  <a:defRPr sz="16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en-US" dirty="0" smtClean="0"/>
                  <a:t>Songs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0.00113649966825841"/>
              <c:y val="0.428589342998792"/>
            </c:manualLayout>
          </c:layout>
          <c:spPr>
            <a:noFill/>
            <a:ln w="25400">
              <a:noFill/>
            </a:ln>
          </c:spPr>
        </c:title>
        <c:numFmt formatCode="General" sourceLinked="1"/>
        <c:majorTickMark val="none"/>
        <c:tickLblPos val="nextTo"/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1798680"/>
        <c:crosses val="autoZero"/>
        <c:crossBetween val="between"/>
      </c:valAx>
      <c:dTable>
        <c:showHorzBorder val="1"/>
        <c:showVertBorder val="1"/>
        <c:showOutline val="1"/>
        <c:showKeys val="1"/>
        <c:txPr>
          <a:bodyPr/>
          <a:lstStyle/>
          <a:p>
            <a:pPr rtl="0"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</c:dTable>
    </c:plotArea>
    <c:plotVisOnly val="1"/>
    <c:dispBlanksAs val="gap"/>
  </c:chart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/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0.49545</cdr:x>
      <cdr:y>0.08845</cdr:y>
    </cdr:from>
    <cdr:to>
      <cdr:x>0.50078</cdr:x>
      <cdr:y>0.83741</cdr:y>
    </cdr:to>
    <cdr:sp macro="" textlink="">
      <cdr:nvSpPr>
        <cdr:cNvPr id="5" name="Straight Connector 4"/>
        <cdr:cNvSpPr/>
      </cdr:nvSpPr>
      <cdr:spPr>
        <a:xfrm xmlns:a="http://schemas.openxmlformats.org/drawingml/2006/main" rot="5400000">
          <a:off x="2088305" y="2680113"/>
          <a:ext cx="4373056" cy="45719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0.90385</cdr:x>
      <cdr:y>0.94643</cdr:y>
    </cdr:from>
    <cdr:to>
      <cdr:x>0.96534</cdr:x>
      <cdr:y>0.98135</cdr:y>
    </cdr:to>
    <cdr:sp macro="" textlink="">
      <cdr:nvSpPr>
        <cdr:cNvPr id="7" name="TextBox 6"/>
        <cdr:cNvSpPr txBox="1"/>
      </cdr:nvSpPr>
      <cdr:spPr>
        <a:xfrm xmlns:a="http://schemas.openxmlformats.org/drawingml/2006/main">
          <a:off x="7162800" y="4038600"/>
          <a:ext cx="487296" cy="14901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pPr algn="ctr"/>
          <a:r>
            <a:rPr lang="en-US" sz="1000" dirty="0"/>
            <a:t>N/A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66946" cy="470305"/>
          </a:xfrm>
          <a:prstGeom prst="rect">
            <a:avLst/>
          </a:prstGeom>
        </p:spPr>
        <p:txBody>
          <a:bodyPr vert="horz" lIns="92418" tIns="46209" rIns="92418" bIns="4620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525" y="0"/>
            <a:ext cx="3066946" cy="470305"/>
          </a:xfrm>
          <a:prstGeom prst="rect">
            <a:avLst/>
          </a:prstGeom>
        </p:spPr>
        <p:txBody>
          <a:bodyPr vert="horz" lIns="92418" tIns="46209" rIns="92418" bIns="46209" rtlCol="0"/>
          <a:lstStyle>
            <a:lvl1pPr algn="r">
              <a:defRPr sz="1200"/>
            </a:lvl1pPr>
          </a:lstStyle>
          <a:p>
            <a:fld id="{6E2C21D5-C227-4EA2-BC89-55E930207BE8}" type="datetimeFigureOut">
              <a:rPr lang="en-US" smtClean="0"/>
              <a:pPr/>
              <a:t>6/20/08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921329"/>
            <a:ext cx="3066946" cy="470305"/>
          </a:xfrm>
          <a:prstGeom prst="rect">
            <a:avLst/>
          </a:prstGeom>
        </p:spPr>
        <p:txBody>
          <a:bodyPr vert="horz" lIns="92418" tIns="46209" rIns="92418" bIns="4620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525" y="8921329"/>
            <a:ext cx="3066946" cy="470305"/>
          </a:xfrm>
          <a:prstGeom prst="rect">
            <a:avLst/>
          </a:prstGeom>
        </p:spPr>
        <p:txBody>
          <a:bodyPr vert="horz" lIns="92418" tIns="46209" rIns="92418" bIns="46209" rtlCol="0" anchor="b"/>
          <a:lstStyle>
            <a:lvl1pPr algn="r">
              <a:defRPr sz="1200"/>
            </a:lvl1pPr>
          </a:lstStyle>
          <a:p>
            <a:fld id="{44446C69-E42F-4E30-9BFC-60D6380781C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66946" cy="470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099" tIns="47050" rIns="94099" bIns="47050" numCol="1" anchor="t" anchorCtr="0" compatLnSpc="1">
            <a:prstTxWarp prst="textNoShape">
              <a:avLst/>
            </a:prstTxWarp>
          </a:bodyPr>
          <a:lstStyle>
            <a:lvl1pPr defTabSz="940223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08525" y="0"/>
            <a:ext cx="3066946" cy="470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099" tIns="47050" rIns="94099" bIns="47050" numCol="1" anchor="t" anchorCtr="0" compatLnSpc="1">
            <a:prstTxWarp prst="textNoShape">
              <a:avLst/>
            </a:prstTxWarp>
          </a:bodyPr>
          <a:lstStyle>
            <a:lvl1pPr algn="r" defTabSz="940223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2213" y="704850"/>
            <a:ext cx="4692650" cy="3521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7389" y="4462270"/>
            <a:ext cx="5662301" cy="4226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099" tIns="47050" rIns="94099" bIns="470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921329"/>
            <a:ext cx="3066946" cy="470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099" tIns="47050" rIns="94099" bIns="47050" numCol="1" anchor="b" anchorCtr="0" compatLnSpc="1">
            <a:prstTxWarp prst="textNoShape">
              <a:avLst/>
            </a:prstTxWarp>
          </a:bodyPr>
          <a:lstStyle>
            <a:lvl1pPr defTabSz="940223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08525" y="8921329"/>
            <a:ext cx="3066946" cy="470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099" tIns="47050" rIns="94099" bIns="47050" numCol="1" anchor="b" anchorCtr="0" compatLnSpc="1">
            <a:prstTxWarp prst="textNoShape">
              <a:avLst/>
            </a:prstTxWarp>
          </a:bodyPr>
          <a:lstStyle>
            <a:lvl1pPr algn="r" defTabSz="940223">
              <a:defRPr sz="1200" smtClean="0"/>
            </a:lvl1pPr>
          </a:lstStyle>
          <a:p>
            <a:pPr>
              <a:defRPr/>
            </a:pPr>
            <a:fld id="{137C20C1-F0F6-4727-BDFE-B717F1BAA2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C1FF4-A5F6-4E4D-8433-52B69605EFA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5388" y="708025"/>
            <a:ext cx="4687887" cy="3516313"/>
          </a:xfrm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6479" y="4463652"/>
            <a:ext cx="5664117" cy="4221366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5388" y="708025"/>
            <a:ext cx="4687887" cy="3516313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6479" y="4463652"/>
            <a:ext cx="5664117" cy="4221366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0563"/>
            <a:ext cx="4738688" cy="3554412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6102" y="4472971"/>
            <a:ext cx="5243302" cy="4244663"/>
          </a:xfrm>
          <a:noFill/>
          <a:ln/>
        </p:spPr>
        <p:txBody>
          <a:bodyPr/>
          <a:lstStyle/>
          <a:p>
            <a:pPr eaLnBrk="1" hangingPunct="1"/>
            <a:r>
              <a:rPr lang="en-US" smtClean="0">
                <a:cs typeface="Times New Roman" pitchFamily="18" charset="0"/>
              </a:rPr>
              <a:t>To overcome these challenges, Opera Solutions has developed a data-driven procurement solution that improves all key elements of corporate procurement.  </a:t>
            </a:r>
          </a:p>
          <a:p>
            <a:pPr eaLnBrk="1" hangingPunct="1"/>
            <a:endParaRPr lang="en-US" smtClean="0">
              <a:cs typeface="Times New Roman" pitchFamily="18" charset="0"/>
            </a:endParaRPr>
          </a:p>
          <a:p>
            <a:pPr eaLnBrk="1" hangingPunct="1"/>
            <a:r>
              <a:rPr lang="en-US" smtClean="0">
                <a:cs typeface="Times New Roman" pitchFamily="18" charset="0"/>
              </a:rPr>
              <a:t>Opera Solutions offers the only web-based software that quickly and repeatedly reveals hidden spending patterns to drive high-impact savings and procurement initiatives.  ExpenseMap automates the aggregation, analysis, and categorization of  millions of pieces of raw spending data and key supplier information from disparate internal and external sources – including AP, GL, ERP, purchasing card, wire transfer, and e-procurement systems.</a:t>
            </a:r>
          </a:p>
          <a:p>
            <a:pPr eaLnBrk="1" hangingPunct="1"/>
            <a:endParaRPr lang="en-US" smtClean="0">
              <a:cs typeface="Times New Roman" pitchFamily="18" charset="0"/>
            </a:endParaRPr>
          </a:p>
          <a:p>
            <a:pPr eaLnBrk="1" hangingPunct="1"/>
            <a:r>
              <a:rPr lang="en-US" smtClean="0">
                <a:cs typeface="Times New Roman" pitchFamily="18" charset="0"/>
              </a:rPr>
              <a:t>We transform information into powerful intelligence that improves supplier management, sourcing, contract management, procurement (purchasing card, e-procurement, etc.), and change management initiatives – be it Opera Solutions' or other company’s offerings.  Opera Solutions offers a packaged set of specialized software, training, services to support these types of initiatives, which makes our offering extremely complementary to all other solutions. </a:t>
            </a:r>
          </a:p>
          <a:p>
            <a:pPr eaLnBrk="1" hangingPunct="1"/>
            <a:endParaRPr lang="en-US" smtClean="0">
              <a:cs typeface="Times New Roman" pitchFamily="18" charset="0"/>
            </a:endParaRPr>
          </a:p>
          <a:p>
            <a:pPr eaLnBrk="1" hangingPunct="1"/>
            <a:r>
              <a:rPr lang="en-US" smtClean="0">
                <a:cs typeface="Times New Roman" pitchFamily="18" charset="0"/>
              </a:rPr>
              <a:t>So companies gain greater compliance, deeper visibility on company-wide spending, and more optimal (‘on-contract’) spending.</a:t>
            </a:r>
            <a:r>
              <a:rPr lang="en-US" smtClean="0"/>
              <a:t>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B685AB-88E2-4EEB-B417-3A8F187B7BE6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Ratings, reviews influence choice; Long tail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470025"/>
          </a:xfrm>
        </p:spPr>
        <p:txBody>
          <a:bodyPr/>
          <a:lstStyle>
            <a:lvl1pPr algn="ctr">
              <a:defRPr b="1">
                <a:solidFill>
                  <a:srgbClr val="002C7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6446838"/>
            <a:ext cx="9144000" cy="411162"/>
            <a:chOff x="0" y="4032"/>
            <a:chExt cx="5760" cy="259"/>
          </a:xfrm>
        </p:grpSpPr>
        <p:sp>
          <p:nvSpPr>
            <p:cNvPr id="4101" name="Rectangle 5"/>
            <p:cNvSpPr>
              <a:spLocks noChangeArrowheads="1"/>
            </p:cNvSpPr>
            <p:nvPr userDrawn="1"/>
          </p:nvSpPr>
          <p:spPr bwMode="auto">
            <a:xfrm>
              <a:off x="0" y="4032"/>
              <a:ext cx="4503" cy="259"/>
            </a:xfrm>
            <a:prstGeom prst="rect">
              <a:avLst/>
            </a:prstGeom>
            <a:solidFill>
              <a:srgbClr val="981E3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2" name="Rectangle 6"/>
            <p:cNvSpPr>
              <a:spLocks noChangeArrowheads="1"/>
            </p:cNvSpPr>
            <p:nvPr userDrawn="1"/>
          </p:nvSpPr>
          <p:spPr bwMode="auto">
            <a:xfrm>
              <a:off x="4498" y="4032"/>
              <a:ext cx="1262" cy="259"/>
            </a:xfrm>
            <a:prstGeom prst="rect">
              <a:avLst/>
            </a:prstGeom>
            <a:solidFill>
              <a:srgbClr val="002C77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4103" name="Picture 7"/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33" y="4047"/>
              <a:ext cx="812" cy="222"/>
            </a:xfrm>
            <a:prstGeom prst="rect">
              <a:avLst/>
            </a:prstGeom>
            <a:noFill/>
          </p:spPr>
        </p:pic>
      </p:grpSp>
      <p:sp>
        <p:nvSpPr>
          <p:cNvPr id="4104" name="Rectangle 8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4770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990DBA-3BF6-4EC9-AA8B-7960FAAB2C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108" name="Rectangle 1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743200" y="4038600"/>
            <a:ext cx="35814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3600" dirty="0">
                <a:solidFill>
                  <a:srgbClr val="002C77"/>
                </a:solidFill>
              </a:rPr>
              <a:t>Kartik Hosanagar</a:t>
            </a:r>
          </a:p>
        </p:txBody>
      </p:sp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54338" y="4789488"/>
            <a:ext cx="3108325" cy="866775"/>
          </a:xfrm>
          <a:prstGeom prst="rect">
            <a:avLst/>
          </a:prstGeom>
          <a:noFill/>
        </p:spPr>
      </p:pic>
      <p:sp>
        <p:nvSpPr>
          <p:cNvPr id="4110" name="Line 14"/>
          <p:cNvSpPr>
            <a:spLocks noChangeShapeType="1"/>
          </p:cNvSpPr>
          <p:nvPr/>
        </p:nvSpPr>
        <p:spPr bwMode="auto">
          <a:xfrm>
            <a:off x="2798763" y="4652963"/>
            <a:ext cx="3454400" cy="0"/>
          </a:xfrm>
          <a:prstGeom prst="line">
            <a:avLst/>
          </a:prstGeom>
          <a:noFill/>
          <a:ln w="28575">
            <a:solidFill>
              <a:srgbClr val="002C77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5E0725-4C5B-4E25-945C-F62D2B30FE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F702F5-E04C-4326-9523-66569892297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7C4672-2CAC-4316-A5D4-5887A8D3751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87E8B4-9925-4987-8AFB-95EC81BB16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50487-0EFD-485B-B1F1-6185AABF61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51500-ABB4-4DC8-97AC-36079A57EFA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4E950D-3D62-4FE6-BB94-78D5C69273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8EC8DA-E830-4D20-B92B-A6CEA11A99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BB9BD-AE9C-44B6-87A8-7368F41FA28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D25796-4C11-46E1-8D39-9DD1A95F50D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B638D-E63F-42B7-9A0C-4A7C8C6107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0" y="6446838"/>
            <a:ext cx="9144000" cy="411162"/>
            <a:chOff x="0" y="4032"/>
            <a:chExt cx="5760" cy="259"/>
          </a:xfrm>
        </p:grpSpPr>
        <p:sp>
          <p:nvSpPr>
            <p:cNvPr id="1032" name="Rectangle 8"/>
            <p:cNvSpPr>
              <a:spLocks noChangeArrowheads="1"/>
            </p:cNvSpPr>
            <p:nvPr userDrawn="1"/>
          </p:nvSpPr>
          <p:spPr bwMode="auto">
            <a:xfrm>
              <a:off x="0" y="4032"/>
              <a:ext cx="4503" cy="259"/>
            </a:xfrm>
            <a:prstGeom prst="rect">
              <a:avLst/>
            </a:prstGeom>
            <a:solidFill>
              <a:srgbClr val="981E3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3" name="Rectangle 9"/>
            <p:cNvSpPr>
              <a:spLocks noChangeArrowheads="1"/>
            </p:cNvSpPr>
            <p:nvPr userDrawn="1"/>
          </p:nvSpPr>
          <p:spPr bwMode="auto">
            <a:xfrm>
              <a:off x="4498" y="4032"/>
              <a:ext cx="1262" cy="259"/>
            </a:xfrm>
            <a:prstGeom prst="rect">
              <a:avLst/>
            </a:prstGeom>
            <a:solidFill>
              <a:srgbClr val="002C77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1034" name="Picture 10"/>
            <p:cNvPicPr>
              <a:picLocks noChangeAspect="1" noChangeArrowheads="1"/>
            </p:cNvPicPr>
            <p:nvPr userDrawn="1"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4733" y="4047"/>
              <a:ext cx="812" cy="222"/>
            </a:xfrm>
            <a:prstGeom prst="rect">
              <a:avLst/>
            </a:prstGeom>
            <a:noFill/>
          </p:spPr>
        </p:pic>
      </p:grp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79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5795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457950"/>
            <a:ext cx="1066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C990DBA-3BF6-4EC9-AA8B-7960FAAB2C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2C7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rgbClr val="002C77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rgbClr val="981E32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002C77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rgbClr val="6D6E7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002C77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4" Type="http://schemas.openxmlformats.org/officeDocument/2006/relationships/tags" Target="../tags/tag5.xml"/><Relationship Id="rId5" Type="http://schemas.openxmlformats.org/officeDocument/2006/relationships/slideLayout" Target="../slideLayouts/slideLayout6.xml"/><Relationship Id="rId7" Type="http://schemas.openxmlformats.org/officeDocument/2006/relationships/image" Target="../media/image13.png"/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6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5.png"/><Relationship Id="rId1" Type="http://schemas.openxmlformats.org/officeDocument/2006/relationships/tags" Target="../tags/tag6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Relationship Id="rId5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5" Type="http://schemas.openxmlformats.org/officeDocument/2006/relationships/oleObject" Target="../embeddings/oleObject1.bin"/><Relationship Id="rId7" Type="http://schemas.openxmlformats.org/officeDocument/2006/relationships/image" Target="../media/image11.png"/><Relationship Id="rId1" Type="http://schemas.openxmlformats.org/officeDocument/2006/relationships/vmlDrawing" Target="../drawings/vmlDrawing1.vml"/><Relationship Id="rId2" Type="http://schemas.openxmlformats.org/officeDocument/2006/relationships/tags" Target="../tags/tag7.xml"/><Relationship Id="rId3" Type="http://schemas.openxmlformats.org/officeDocument/2006/relationships/slideLayout" Target="../slideLayouts/slideLayout2.xml"/><Relationship Id="rId6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3" Type="http://schemas.openxmlformats.org/officeDocument/2006/relationships/hyperlink" Target="mailto:kartikh@wharton.upenn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470025"/>
          </a:xfrm>
        </p:spPr>
        <p:txBody>
          <a:bodyPr/>
          <a:lstStyle/>
          <a:p>
            <a:r>
              <a:rPr lang="en-US" dirty="0" smtClean="0"/>
              <a:t>The Present and Future</a:t>
            </a:r>
            <a:br>
              <a:rPr lang="en-US" dirty="0" smtClean="0"/>
            </a:br>
            <a:r>
              <a:rPr lang="en-US" dirty="0" smtClean="0"/>
              <a:t>of </a:t>
            </a:r>
            <a:br>
              <a:rPr lang="en-US" dirty="0" smtClean="0"/>
            </a:br>
            <a:r>
              <a:rPr lang="en-US" dirty="0" smtClean="0"/>
              <a:t>Personalized Recommendations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Personalized Retail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AMZN1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3400" y="1469572"/>
            <a:ext cx="7924800" cy="3882130"/>
          </a:xfrm>
        </p:spPr>
      </p:pic>
      <p:pic>
        <p:nvPicPr>
          <p:cNvPr id="8" name="Content Placeholder 3" descr="AMZN2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3400" y="1676400"/>
            <a:ext cx="8259536" cy="30480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Personalized Radio</a:t>
            </a:r>
            <a:endParaRPr lang="en-US" dirty="0"/>
          </a:p>
        </p:txBody>
      </p:sp>
      <p:pic>
        <p:nvPicPr>
          <p:cNvPr id="4" name="Table Placeholder 3" descr="YHOO.jpg"/>
          <p:cNvPicPr>
            <a:picLocks noGrp="1" noChangeAspect="1"/>
          </p:cNvPicPr>
          <p:nvPr>
            <p:ph type="tbl" idx="1"/>
          </p:nvPr>
        </p:nvPicPr>
        <p:blipFill>
          <a:blip r:embed="rId2"/>
          <a:stretch>
            <a:fillRect/>
          </a:stretch>
        </p:blipFill>
        <p:spPr>
          <a:xfrm>
            <a:off x="1981200" y="1447800"/>
            <a:ext cx="5562600" cy="4687325"/>
          </a:xfrm>
        </p:spPr>
      </p:pic>
      <p:pic>
        <p:nvPicPr>
          <p:cNvPr id="6" name="Picture 5" descr="pando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447800"/>
            <a:ext cx="6916449" cy="381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Personalized News</a:t>
            </a:r>
            <a:endParaRPr lang="en-US" dirty="0"/>
          </a:p>
        </p:txBody>
      </p:sp>
      <p:pic>
        <p:nvPicPr>
          <p:cNvPr id="6" name="Content Placeholder 5" descr="gOOGL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2057400"/>
            <a:ext cx="7346566" cy="3366294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Party Providers</a:t>
            </a:r>
            <a:endParaRPr lang="en-US" dirty="0"/>
          </a:p>
        </p:txBody>
      </p:sp>
      <p:pic>
        <p:nvPicPr>
          <p:cNvPr id="4" name="Content Placeholder 3" descr="agg know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1219200"/>
            <a:ext cx="2514600" cy="5029200"/>
          </a:xfrm>
        </p:spPr>
      </p:pic>
      <p:sp>
        <p:nvSpPr>
          <p:cNvPr id="5" name="TextBox 4"/>
          <p:cNvSpPr txBox="1"/>
          <p:nvPr/>
        </p:nvSpPr>
        <p:spPr>
          <a:xfrm>
            <a:off x="6553200" y="6019800"/>
            <a:ext cx="2590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: Business 2.0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Why are Recommenders Important?</a:t>
            </a:r>
          </a:p>
        </p:txBody>
      </p:sp>
      <p:graphicFrame>
        <p:nvGraphicFramePr>
          <p:cNvPr id="918531" name="Group 3"/>
          <p:cNvGraphicFramePr>
            <a:graphicFrameLocks noGrp="1"/>
          </p:cNvGraphicFramePr>
          <p:nvPr>
            <p:ph type="tbl" idx="1"/>
          </p:nvPr>
        </p:nvGraphicFramePr>
        <p:xfrm>
          <a:off x="-1009650" y="1938338"/>
          <a:ext cx="8712517" cy="3743325"/>
        </p:xfrm>
        <a:graphic>
          <a:graphicData uri="http://schemas.openxmlformats.org/drawingml/2006/table">
            <a:tbl>
              <a:tblPr/>
              <a:tblGrid>
                <a:gridCol w="3975100"/>
                <a:gridCol w="208280"/>
                <a:gridCol w="4529137"/>
              </a:tblGrid>
              <a:tr h="1679575">
                <a:tc>
                  <a:txBody>
                    <a:bodyPr/>
                    <a:lstStyle/>
                    <a:p>
                      <a:pPr marL="0" marR="0" lvl="0" indent="0" algn="r" defTabSz="895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 to </a:t>
                      </a:r>
                      <a:b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Consumers: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rgbClr val="002C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• 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Learn about new products     </a:t>
                      </a:r>
                      <a:b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• Sort through myriad choices </a:t>
                      </a:r>
                    </a:p>
                    <a:p>
                      <a:pPr marL="0" marR="0" lvl="0" indent="0" algn="l" defTabSz="895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895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anchor="b" horzOverflow="overflow">
                    <a:lnL w="28575" cap="flat" cmpd="sng" algn="ctr">
                      <a:solidFill>
                        <a:srgbClr val="002C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63750">
                <a:tc>
                  <a:txBody>
                    <a:bodyPr/>
                    <a:lstStyle/>
                    <a:p>
                      <a:pPr marL="0" marR="0" lvl="0" indent="0" algn="r" defTabSz="895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 to </a:t>
                      </a:r>
                      <a:b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Firms: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5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rgbClr val="002C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95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/>
                      </a:r>
                      <a:b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• 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Convert browser to buyers     </a:t>
                      </a:r>
                      <a:b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• Cross-sell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b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• Increase loyalty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2C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5547" name="Text Box 21"/>
          <p:cNvSpPr txBox="1">
            <a:spLocks noChangeArrowheads="1"/>
          </p:cNvSpPr>
          <p:nvPr/>
        </p:nvSpPr>
        <p:spPr bwMode="auto">
          <a:xfrm>
            <a:off x="457200" y="5910263"/>
            <a:ext cx="8013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latin typeface="Arial" charset="0"/>
              </a:rPr>
              <a:t>Used by major Internet firms (Amazon, NetFlix, Yahoo!)</a:t>
            </a:r>
          </a:p>
        </p:txBody>
      </p:sp>
      <p:sp>
        <p:nvSpPr>
          <p:cNvPr id="65548" name="Rectangle 22"/>
          <p:cNvSpPr>
            <a:spLocks noChangeArrowheads="1"/>
          </p:cNvSpPr>
          <p:nvPr/>
        </p:nvSpPr>
        <p:spPr bwMode="auto">
          <a:xfrm>
            <a:off x="457200" y="1414463"/>
            <a:ext cx="811688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Arial" charset="0"/>
              </a:rPr>
              <a:t>Recommenders can be beneficial to both consumers and firms. </a:t>
            </a:r>
            <a:endParaRPr lang="en-US" b="1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Recommender Design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Content Based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Collaborative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Social Network</a:t>
                      </a:r>
                      <a:endParaRPr 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content bas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667000"/>
            <a:ext cx="5191125" cy="2867025"/>
          </a:xfrm>
          <a:prstGeom prst="rect">
            <a:avLst/>
          </a:prstGeom>
        </p:spPr>
      </p:pic>
      <p:grpSp>
        <p:nvGrpSpPr>
          <p:cNvPr id="68" name="Group 67"/>
          <p:cNvGrpSpPr/>
          <p:nvPr/>
        </p:nvGrpSpPr>
        <p:grpSpPr>
          <a:xfrm>
            <a:off x="1982787" y="2481263"/>
            <a:ext cx="5676900" cy="2220912"/>
            <a:chOff x="1982787" y="2481263"/>
            <a:chExt cx="5676900" cy="2220912"/>
          </a:xfrm>
        </p:grpSpPr>
        <p:sp>
          <p:nvSpPr>
            <p:cNvPr id="10" name="Rectangle 2"/>
            <p:cNvSpPr>
              <a:spLocks noChangeArrowheads="1"/>
            </p:cNvSpPr>
            <p:nvPr/>
          </p:nvSpPr>
          <p:spPr bwMode="gray">
            <a:xfrm>
              <a:off x="5526087" y="2743200"/>
              <a:ext cx="2133600" cy="195897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Rectangle 3"/>
            <p:cNvSpPr>
              <a:spLocks noChangeArrowheads="1"/>
            </p:cNvSpPr>
            <p:nvPr/>
          </p:nvSpPr>
          <p:spPr bwMode="gray">
            <a:xfrm>
              <a:off x="2209800" y="2743200"/>
              <a:ext cx="2970212" cy="195897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AutoShape 4"/>
            <p:cNvSpPr>
              <a:spLocks noChangeArrowheads="1"/>
            </p:cNvSpPr>
            <p:nvPr/>
          </p:nvSpPr>
          <p:spPr bwMode="gray">
            <a:xfrm>
              <a:off x="2547937" y="3968750"/>
              <a:ext cx="2058988" cy="346075"/>
            </a:xfrm>
            <a:prstGeom prst="rightArrow">
              <a:avLst>
                <a:gd name="adj1" fmla="val 50000"/>
                <a:gd name="adj2" fmla="val 148739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AutoShape 5"/>
            <p:cNvSpPr>
              <a:spLocks noChangeArrowheads="1"/>
            </p:cNvSpPr>
            <p:nvPr/>
          </p:nvSpPr>
          <p:spPr bwMode="gray">
            <a:xfrm>
              <a:off x="2547937" y="3473450"/>
              <a:ext cx="2058988" cy="346075"/>
            </a:xfrm>
            <a:prstGeom prst="rightArrow">
              <a:avLst>
                <a:gd name="adj1" fmla="val 50000"/>
                <a:gd name="adj2" fmla="val 148739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14" name="Picture 52" descr="MCj04316400000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52662" y="3302000"/>
              <a:ext cx="269875" cy="269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AutoShape 53"/>
            <p:cNvSpPr>
              <a:spLocks noChangeArrowheads="1"/>
            </p:cNvSpPr>
            <p:nvPr/>
          </p:nvSpPr>
          <p:spPr bwMode="gray">
            <a:xfrm rot="5400000">
              <a:off x="1402556" y="3653631"/>
              <a:ext cx="1333500" cy="173038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16" name="Group 54"/>
            <p:cNvGrpSpPr>
              <a:grpSpLocks/>
            </p:cNvGrpSpPr>
            <p:nvPr/>
          </p:nvGrpSpPr>
          <p:grpSpPr bwMode="auto">
            <a:xfrm>
              <a:off x="2719387" y="2809875"/>
              <a:ext cx="461963" cy="412750"/>
              <a:chOff x="1525" y="1344"/>
              <a:chExt cx="291" cy="260"/>
            </a:xfrm>
          </p:grpSpPr>
          <p:sp>
            <p:nvSpPr>
              <p:cNvPr id="17" name="Oval 55"/>
              <p:cNvSpPr>
                <a:spLocks noChangeArrowheads="1"/>
              </p:cNvSpPr>
              <p:nvPr/>
            </p:nvSpPr>
            <p:spPr bwMode="gray">
              <a:xfrm>
                <a:off x="1525" y="1344"/>
                <a:ext cx="291" cy="26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8" name="Oval 56"/>
              <p:cNvSpPr>
                <a:spLocks noChangeArrowheads="1"/>
              </p:cNvSpPr>
              <p:nvPr/>
            </p:nvSpPr>
            <p:spPr bwMode="gray">
              <a:xfrm>
                <a:off x="1634" y="1442"/>
                <a:ext cx="72" cy="65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lnSpc>
                    <a:spcPct val="90000"/>
                  </a:lnSpc>
                  <a:spcBef>
                    <a:spcPct val="0"/>
                  </a:spcBef>
                </a:pPr>
                <a:endParaRPr lang="en-US" sz="3400" b="1">
                  <a:latin typeface="Arial" charset="0"/>
                </a:endParaRPr>
              </a:p>
            </p:txBody>
          </p:sp>
        </p:grpSp>
        <p:sp>
          <p:nvSpPr>
            <p:cNvPr id="19" name="Text Box 57"/>
            <p:cNvSpPr txBox="1">
              <a:spLocks noChangeArrowheads="1"/>
            </p:cNvSpPr>
            <p:nvPr/>
          </p:nvSpPr>
          <p:spPr bwMode="gray">
            <a:xfrm>
              <a:off x="2689225" y="2481263"/>
              <a:ext cx="1817687" cy="2206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0"/>
                </a:spcBef>
              </a:pPr>
              <a:r>
                <a:rPr lang="en-US" sz="1600" b="1">
                  <a:latin typeface="Arial" charset="0"/>
                </a:rPr>
                <a:t>Correlation Engine</a:t>
              </a:r>
            </a:p>
          </p:txBody>
        </p: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3452812" y="2809875"/>
              <a:ext cx="461963" cy="412750"/>
              <a:chOff x="1525" y="1344"/>
              <a:chExt cx="291" cy="260"/>
            </a:xfrm>
          </p:grpSpPr>
          <p:sp>
            <p:nvSpPr>
              <p:cNvPr id="21" name="Oval 59"/>
              <p:cNvSpPr>
                <a:spLocks noChangeArrowheads="1"/>
              </p:cNvSpPr>
              <p:nvPr/>
            </p:nvSpPr>
            <p:spPr bwMode="gray">
              <a:xfrm>
                <a:off x="1525" y="1344"/>
                <a:ext cx="291" cy="260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rgbClr val="767600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en-US"/>
              </a:p>
            </p:txBody>
          </p:sp>
          <p:sp>
            <p:nvSpPr>
              <p:cNvPr id="22" name="Oval 60"/>
              <p:cNvSpPr>
                <a:spLocks noChangeArrowheads="1"/>
              </p:cNvSpPr>
              <p:nvPr/>
            </p:nvSpPr>
            <p:spPr bwMode="gray">
              <a:xfrm>
                <a:off x="1634" y="1442"/>
                <a:ext cx="72" cy="65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lnSpc>
                    <a:spcPct val="90000"/>
                  </a:lnSpc>
                  <a:spcBef>
                    <a:spcPct val="0"/>
                  </a:spcBef>
                </a:pPr>
                <a:endParaRPr lang="en-US" sz="3400" b="1">
                  <a:latin typeface="Arial" charset="0"/>
                </a:endParaRPr>
              </a:p>
            </p:txBody>
          </p:sp>
        </p:grpSp>
        <p:sp>
          <p:nvSpPr>
            <p:cNvPr id="23" name="Text Box 61"/>
            <p:cNvSpPr txBox="1">
              <a:spLocks noChangeArrowheads="1"/>
            </p:cNvSpPr>
            <p:nvPr/>
          </p:nvSpPr>
          <p:spPr bwMode="gray">
            <a:xfrm>
              <a:off x="3236912" y="2967038"/>
              <a:ext cx="174625" cy="13652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0"/>
                </a:spcBef>
              </a:pPr>
              <a:r>
                <a:rPr lang="en-US" sz="1000" b="1">
                  <a:latin typeface="Arial" charset="0"/>
                </a:rPr>
                <a:t>vs.</a:t>
              </a:r>
            </a:p>
          </p:txBody>
        </p:sp>
        <p:pic>
          <p:nvPicPr>
            <p:cNvPr id="24" name="Picture 62" descr="MCj04316400000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52662" y="3765550"/>
              <a:ext cx="269875" cy="269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" name="Picture 63" descr="MCj04316400000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52662" y="4229100"/>
              <a:ext cx="269875" cy="269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" name="Picture 64" descr="MCj04316400000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408237" y="3997325"/>
              <a:ext cx="269875" cy="269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" name="Picture 65" descr="MCj04316400000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408237" y="3533775"/>
              <a:ext cx="269875" cy="269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" name="AutoShape 66"/>
            <p:cNvSpPr>
              <a:spLocks noChangeArrowheads="1"/>
            </p:cNvSpPr>
            <p:nvPr/>
          </p:nvSpPr>
          <p:spPr bwMode="gray">
            <a:xfrm>
              <a:off x="2719387" y="3328988"/>
              <a:ext cx="100013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" name="AutoShape 67"/>
            <p:cNvSpPr>
              <a:spLocks noChangeArrowheads="1"/>
            </p:cNvSpPr>
            <p:nvPr/>
          </p:nvSpPr>
          <p:spPr bwMode="gray">
            <a:xfrm>
              <a:off x="2819400" y="3328988"/>
              <a:ext cx="101600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" name="AutoShape 68"/>
            <p:cNvSpPr>
              <a:spLocks noChangeArrowheads="1"/>
            </p:cNvSpPr>
            <p:nvPr/>
          </p:nvSpPr>
          <p:spPr bwMode="gray">
            <a:xfrm>
              <a:off x="2921000" y="3328988"/>
              <a:ext cx="100012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AutoShape 69"/>
            <p:cNvSpPr>
              <a:spLocks noChangeArrowheads="1"/>
            </p:cNvSpPr>
            <p:nvPr/>
          </p:nvSpPr>
          <p:spPr bwMode="gray">
            <a:xfrm>
              <a:off x="2719387" y="3821113"/>
              <a:ext cx="100013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AutoShape 70"/>
            <p:cNvSpPr>
              <a:spLocks noChangeArrowheads="1"/>
            </p:cNvSpPr>
            <p:nvPr/>
          </p:nvSpPr>
          <p:spPr bwMode="gray">
            <a:xfrm>
              <a:off x="2819400" y="3821113"/>
              <a:ext cx="101600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" name="AutoShape 71"/>
            <p:cNvSpPr>
              <a:spLocks noChangeArrowheads="1"/>
            </p:cNvSpPr>
            <p:nvPr/>
          </p:nvSpPr>
          <p:spPr bwMode="gray">
            <a:xfrm>
              <a:off x="2719387" y="4314825"/>
              <a:ext cx="100013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4" name="AutoShape 72"/>
            <p:cNvSpPr>
              <a:spLocks noChangeArrowheads="1"/>
            </p:cNvSpPr>
            <p:nvPr/>
          </p:nvSpPr>
          <p:spPr bwMode="gray">
            <a:xfrm>
              <a:off x="2719387" y="4075113"/>
              <a:ext cx="100013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AutoShape 73"/>
            <p:cNvSpPr>
              <a:spLocks noChangeArrowheads="1"/>
            </p:cNvSpPr>
            <p:nvPr/>
          </p:nvSpPr>
          <p:spPr bwMode="gray">
            <a:xfrm>
              <a:off x="2819400" y="4075113"/>
              <a:ext cx="101600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AutoShape 74"/>
            <p:cNvSpPr>
              <a:spLocks noChangeArrowheads="1"/>
            </p:cNvSpPr>
            <p:nvPr/>
          </p:nvSpPr>
          <p:spPr bwMode="gray">
            <a:xfrm>
              <a:off x="2921000" y="4075113"/>
              <a:ext cx="100012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" name="AutoShape 75"/>
            <p:cNvSpPr>
              <a:spLocks noChangeArrowheads="1"/>
            </p:cNvSpPr>
            <p:nvPr/>
          </p:nvSpPr>
          <p:spPr bwMode="gray">
            <a:xfrm>
              <a:off x="2719387" y="3587750"/>
              <a:ext cx="100013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8" name="AutoShape 76"/>
            <p:cNvSpPr>
              <a:spLocks noChangeArrowheads="1"/>
            </p:cNvSpPr>
            <p:nvPr/>
          </p:nvSpPr>
          <p:spPr bwMode="gray">
            <a:xfrm>
              <a:off x="2819400" y="3587750"/>
              <a:ext cx="101600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" name="AutoShape 77"/>
            <p:cNvSpPr>
              <a:spLocks noChangeArrowheads="1"/>
            </p:cNvSpPr>
            <p:nvPr/>
          </p:nvSpPr>
          <p:spPr bwMode="gray">
            <a:xfrm>
              <a:off x="2921000" y="3587750"/>
              <a:ext cx="100012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" name="AutoShape 78"/>
            <p:cNvSpPr>
              <a:spLocks noChangeArrowheads="1"/>
            </p:cNvSpPr>
            <p:nvPr/>
          </p:nvSpPr>
          <p:spPr bwMode="gray">
            <a:xfrm>
              <a:off x="3373437" y="3328988"/>
              <a:ext cx="100013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1" name="AutoShape 79"/>
            <p:cNvSpPr>
              <a:spLocks noChangeArrowheads="1"/>
            </p:cNvSpPr>
            <p:nvPr/>
          </p:nvSpPr>
          <p:spPr bwMode="gray">
            <a:xfrm>
              <a:off x="3473450" y="3328988"/>
              <a:ext cx="101600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2" name="AutoShape 80"/>
            <p:cNvSpPr>
              <a:spLocks noChangeArrowheads="1"/>
            </p:cNvSpPr>
            <p:nvPr/>
          </p:nvSpPr>
          <p:spPr bwMode="gray">
            <a:xfrm>
              <a:off x="3575050" y="3328988"/>
              <a:ext cx="100012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" name="AutoShape 81"/>
            <p:cNvSpPr>
              <a:spLocks noChangeArrowheads="1"/>
            </p:cNvSpPr>
            <p:nvPr/>
          </p:nvSpPr>
          <p:spPr bwMode="gray">
            <a:xfrm>
              <a:off x="3675062" y="3328988"/>
              <a:ext cx="101600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4" name="AutoShape 82"/>
            <p:cNvSpPr>
              <a:spLocks noChangeArrowheads="1"/>
            </p:cNvSpPr>
            <p:nvPr/>
          </p:nvSpPr>
          <p:spPr bwMode="gray">
            <a:xfrm>
              <a:off x="3776662" y="3328988"/>
              <a:ext cx="100013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5" name="AutoShape 83"/>
            <p:cNvSpPr>
              <a:spLocks noChangeArrowheads="1"/>
            </p:cNvSpPr>
            <p:nvPr/>
          </p:nvSpPr>
          <p:spPr bwMode="gray">
            <a:xfrm>
              <a:off x="3373437" y="3821113"/>
              <a:ext cx="100013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6" name="AutoShape 84"/>
            <p:cNvSpPr>
              <a:spLocks noChangeArrowheads="1"/>
            </p:cNvSpPr>
            <p:nvPr/>
          </p:nvSpPr>
          <p:spPr bwMode="gray">
            <a:xfrm>
              <a:off x="3473450" y="3821113"/>
              <a:ext cx="101600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7" name="AutoShape 85"/>
            <p:cNvSpPr>
              <a:spLocks noChangeArrowheads="1"/>
            </p:cNvSpPr>
            <p:nvPr/>
          </p:nvSpPr>
          <p:spPr bwMode="gray">
            <a:xfrm>
              <a:off x="3575050" y="3821113"/>
              <a:ext cx="100012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8" name="AutoShape 86"/>
            <p:cNvSpPr>
              <a:spLocks noChangeArrowheads="1"/>
            </p:cNvSpPr>
            <p:nvPr/>
          </p:nvSpPr>
          <p:spPr bwMode="gray">
            <a:xfrm>
              <a:off x="3373437" y="4314825"/>
              <a:ext cx="100013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9" name="AutoShape 87"/>
            <p:cNvSpPr>
              <a:spLocks noChangeArrowheads="1"/>
            </p:cNvSpPr>
            <p:nvPr/>
          </p:nvSpPr>
          <p:spPr bwMode="gray">
            <a:xfrm>
              <a:off x="3373437" y="4075113"/>
              <a:ext cx="100013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0" name="AutoShape 88"/>
            <p:cNvSpPr>
              <a:spLocks noChangeArrowheads="1"/>
            </p:cNvSpPr>
            <p:nvPr/>
          </p:nvSpPr>
          <p:spPr bwMode="gray">
            <a:xfrm>
              <a:off x="3373437" y="3587750"/>
              <a:ext cx="100013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1" name="AutoShape 89"/>
            <p:cNvSpPr>
              <a:spLocks noChangeArrowheads="1"/>
            </p:cNvSpPr>
            <p:nvPr/>
          </p:nvSpPr>
          <p:spPr bwMode="gray">
            <a:xfrm>
              <a:off x="3027362" y="4075113"/>
              <a:ext cx="101600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2" name="AutoShape 90"/>
            <p:cNvSpPr>
              <a:spLocks noChangeArrowheads="1"/>
            </p:cNvSpPr>
            <p:nvPr/>
          </p:nvSpPr>
          <p:spPr bwMode="gray">
            <a:xfrm>
              <a:off x="3128962" y="4075113"/>
              <a:ext cx="100013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3" name="AutoShape 91"/>
            <p:cNvSpPr>
              <a:spLocks noChangeArrowheads="1"/>
            </p:cNvSpPr>
            <p:nvPr/>
          </p:nvSpPr>
          <p:spPr bwMode="gray">
            <a:xfrm>
              <a:off x="3027362" y="3587750"/>
              <a:ext cx="101600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4" name="AutoShape 92"/>
            <p:cNvSpPr>
              <a:spLocks noChangeArrowheads="1"/>
            </p:cNvSpPr>
            <p:nvPr/>
          </p:nvSpPr>
          <p:spPr bwMode="gray">
            <a:xfrm>
              <a:off x="3128962" y="3587750"/>
              <a:ext cx="100013" cy="95250"/>
            </a:xfrm>
            <a:prstGeom prst="star5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5" name="Rectangle 93"/>
            <p:cNvSpPr>
              <a:spLocks noChangeArrowheads="1"/>
            </p:cNvSpPr>
            <p:nvPr/>
          </p:nvSpPr>
          <p:spPr bwMode="gray">
            <a:xfrm>
              <a:off x="4079875" y="3463925"/>
              <a:ext cx="1039812" cy="876300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0" tIns="0" rIns="0" bIns="0" anchor="ctr"/>
            <a:lstStyle/>
            <a:p>
              <a:pPr eaLnBrk="1" hangingPunct="1">
                <a:lnSpc>
                  <a:spcPct val="90000"/>
                </a:lnSpc>
                <a:spcBef>
                  <a:spcPct val="0"/>
                </a:spcBef>
                <a:defRPr/>
              </a:pPr>
              <a:r>
                <a:rPr lang="en-US" sz="1200" b="1">
                  <a:latin typeface="Arial" charset="0"/>
                </a:rPr>
                <a:t>High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defRPr/>
              </a:pPr>
              <a:r>
                <a:rPr lang="en-US" sz="1200" b="1">
                  <a:latin typeface="Arial" charset="0"/>
                </a:rPr>
                <a:t>Correlation</a:t>
              </a:r>
            </a:p>
          </p:txBody>
        </p:sp>
        <p:pic>
          <p:nvPicPr>
            <p:cNvPr id="56" name="Picture 94" descr="MCj04316400000[1]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653087" y="2843213"/>
              <a:ext cx="492125" cy="492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7" name="Freeform 95"/>
            <p:cNvSpPr>
              <a:spLocks/>
            </p:cNvSpPr>
            <p:nvPr/>
          </p:nvSpPr>
          <p:spPr bwMode="auto">
            <a:xfrm>
              <a:off x="6211887" y="2935288"/>
              <a:ext cx="1447800" cy="860425"/>
            </a:xfrm>
            <a:custGeom>
              <a:avLst/>
              <a:gdLst>
                <a:gd name="T0" fmla="*/ 785494 w 1093"/>
                <a:gd name="T1" fmla="*/ 611180 h 649"/>
                <a:gd name="T2" fmla="*/ 769599 w 1093"/>
                <a:gd name="T3" fmla="*/ 560801 h 649"/>
                <a:gd name="T4" fmla="*/ 745756 w 1093"/>
                <a:gd name="T5" fmla="*/ 513073 h 649"/>
                <a:gd name="T6" fmla="*/ 717939 w 1093"/>
                <a:gd name="T7" fmla="*/ 469323 h 649"/>
                <a:gd name="T8" fmla="*/ 683499 w 1093"/>
                <a:gd name="T9" fmla="*/ 430875 h 649"/>
                <a:gd name="T10" fmla="*/ 645086 w 1093"/>
                <a:gd name="T11" fmla="*/ 396405 h 649"/>
                <a:gd name="T12" fmla="*/ 601373 w 1093"/>
                <a:gd name="T13" fmla="*/ 365913 h 649"/>
                <a:gd name="T14" fmla="*/ 555012 w 1093"/>
                <a:gd name="T15" fmla="*/ 342049 h 649"/>
                <a:gd name="T16" fmla="*/ 504677 w 1093"/>
                <a:gd name="T17" fmla="*/ 324814 h 649"/>
                <a:gd name="T18" fmla="*/ 451692 w 1093"/>
                <a:gd name="T19" fmla="*/ 314208 h 649"/>
                <a:gd name="T20" fmla="*/ 397383 w 1093"/>
                <a:gd name="T21" fmla="*/ 310230 h 649"/>
                <a:gd name="T22" fmla="*/ 339100 w 1093"/>
                <a:gd name="T23" fmla="*/ 314208 h 649"/>
                <a:gd name="T24" fmla="*/ 283467 w 1093"/>
                <a:gd name="T25" fmla="*/ 327465 h 649"/>
                <a:gd name="T26" fmla="*/ 230482 w 1093"/>
                <a:gd name="T27" fmla="*/ 347352 h 649"/>
                <a:gd name="T28" fmla="*/ 181472 w 1093"/>
                <a:gd name="T29" fmla="*/ 373867 h 649"/>
                <a:gd name="T30" fmla="*/ 137760 w 1093"/>
                <a:gd name="T31" fmla="*/ 407012 h 649"/>
                <a:gd name="T32" fmla="*/ 98021 w 1093"/>
                <a:gd name="T33" fmla="*/ 445459 h 649"/>
                <a:gd name="T34" fmla="*/ 64906 w 1093"/>
                <a:gd name="T35" fmla="*/ 489209 h 649"/>
                <a:gd name="T36" fmla="*/ 37089 w 1093"/>
                <a:gd name="T37" fmla="*/ 536937 h 649"/>
                <a:gd name="T38" fmla="*/ 17220 w 1093"/>
                <a:gd name="T39" fmla="*/ 589968 h 649"/>
                <a:gd name="T40" fmla="*/ 3974 w 1093"/>
                <a:gd name="T41" fmla="*/ 645650 h 649"/>
                <a:gd name="T42" fmla="*/ 3974 w 1093"/>
                <a:gd name="T43" fmla="*/ 646976 h 649"/>
                <a:gd name="T44" fmla="*/ 19869 w 1093"/>
                <a:gd name="T45" fmla="*/ 547543 h 649"/>
                <a:gd name="T46" fmla="*/ 47686 w 1093"/>
                <a:gd name="T47" fmla="*/ 452088 h 649"/>
                <a:gd name="T48" fmla="*/ 87424 w 1093"/>
                <a:gd name="T49" fmla="*/ 364587 h 649"/>
                <a:gd name="T50" fmla="*/ 136435 w 1093"/>
                <a:gd name="T51" fmla="*/ 282389 h 649"/>
                <a:gd name="T52" fmla="*/ 194718 w 1093"/>
                <a:gd name="T53" fmla="*/ 209472 h 649"/>
                <a:gd name="T54" fmla="*/ 262273 w 1093"/>
                <a:gd name="T55" fmla="*/ 145835 h 649"/>
                <a:gd name="T56" fmla="*/ 337776 w 1093"/>
                <a:gd name="T57" fmla="*/ 92804 h 649"/>
                <a:gd name="T58" fmla="*/ 418577 w 1093"/>
                <a:gd name="T59" fmla="*/ 50379 h 649"/>
                <a:gd name="T60" fmla="*/ 506001 w 1093"/>
                <a:gd name="T61" fmla="*/ 19887 h 649"/>
                <a:gd name="T62" fmla="*/ 551038 w 1093"/>
                <a:gd name="T63" fmla="*/ 9280 h 649"/>
                <a:gd name="T64" fmla="*/ 598724 w 1093"/>
                <a:gd name="T65" fmla="*/ 2652 h 649"/>
                <a:gd name="T66" fmla="*/ 645086 w 1093"/>
                <a:gd name="T67" fmla="*/ 0 h 649"/>
                <a:gd name="T68" fmla="*/ 692772 w 1093"/>
                <a:gd name="T69" fmla="*/ 1326 h 649"/>
                <a:gd name="T70" fmla="*/ 740458 w 1093"/>
                <a:gd name="T71" fmla="*/ 5303 h 649"/>
                <a:gd name="T72" fmla="*/ 786819 w 1093"/>
                <a:gd name="T73" fmla="*/ 13258 h 649"/>
                <a:gd name="T74" fmla="*/ 846426 w 1093"/>
                <a:gd name="T75" fmla="*/ 29167 h 649"/>
                <a:gd name="T76" fmla="*/ 931202 w 1093"/>
                <a:gd name="T77" fmla="*/ 62311 h 649"/>
                <a:gd name="T78" fmla="*/ 1009354 w 1093"/>
                <a:gd name="T79" fmla="*/ 108713 h 649"/>
                <a:gd name="T80" fmla="*/ 1082207 w 1093"/>
                <a:gd name="T81" fmla="*/ 165721 h 649"/>
                <a:gd name="T82" fmla="*/ 1145788 w 1093"/>
                <a:gd name="T83" fmla="*/ 232010 h 649"/>
                <a:gd name="T84" fmla="*/ 1201422 w 1093"/>
                <a:gd name="T85" fmla="*/ 308904 h 649"/>
                <a:gd name="T86" fmla="*/ 1247783 w 1093"/>
                <a:gd name="T87" fmla="*/ 392428 h 649"/>
                <a:gd name="T88" fmla="*/ 1283548 w 1093"/>
                <a:gd name="T89" fmla="*/ 482580 h 649"/>
                <a:gd name="T90" fmla="*/ 1307391 w 1093"/>
                <a:gd name="T91" fmla="*/ 579362 h 649"/>
                <a:gd name="T92" fmla="*/ 1447800 w 1093"/>
                <a:gd name="T93" fmla="*/ 645650 h 649"/>
                <a:gd name="T94" fmla="*/ 793442 w 1093"/>
                <a:gd name="T95" fmla="*/ 645650 h 649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093"/>
                <a:gd name="T145" fmla="*/ 0 h 649"/>
                <a:gd name="T146" fmla="*/ 1093 w 1093"/>
                <a:gd name="T147" fmla="*/ 649 h 649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093" h="649">
                  <a:moveTo>
                    <a:pt x="599" y="487"/>
                  </a:moveTo>
                  <a:lnTo>
                    <a:pt x="596" y="474"/>
                  </a:lnTo>
                  <a:lnTo>
                    <a:pt x="593" y="461"/>
                  </a:lnTo>
                  <a:lnTo>
                    <a:pt x="590" y="448"/>
                  </a:lnTo>
                  <a:lnTo>
                    <a:pt x="586" y="435"/>
                  </a:lnTo>
                  <a:lnTo>
                    <a:pt x="581" y="423"/>
                  </a:lnTo>
                  <a:lnTo>
                    <a:pt x="576" y="411"/>
                  </a:lnTo>
                  <a:lnTo>
                    <a:pt x="570" y="399"/>
                  </a:lnTo>
                  <a:lnTo>
                    <a:pt x="563" y="387"/>
                  </a:lnTo>
                  <a:lnTo>
                    <a:pt x="557" y="376"/>
                  </a:lnTo>
                  <a:lnTo>
                    <a:pt x="549" y="365"/>
                  </a:lnTo>
                  <a:lnTo>
                    <a:pt x="542" y="354"/>
                  </a:lnTo>
                  <a:lnTo>
                    <a:pt x="534" y="344"/>
                  </a:lnTo>
                  <a:lnTo>
                    <a:pt x="525" y="334"/>
                  </a:lnTo>
                  <a:lnTo>
                    <a:pt x="516" y="325"/>
                  </a:lnTo>
                  <a:lnTo>
                    <a:pt x="507" y="316"/>
                  </a:lnTo>
                  <a:lnTo>
                    <a:pt x="497" y="307"/>
                  </a:lnTo>
                  <a:lnTo>
                    <a:pt x="487" y="299"/>
                  </a:lnTo>
                  <a:lnTo>
                    <a:pt x="476" y="291"/>
                  </a:lnTo>
                  <a:lnTo>
                    <a:pt x="465" y="283"/>
                  </a:lnTo>
                  <a:lnTo>
                    <a:pt x="454" y="276"/>
                  </a:lnTo>
                  <a:lnTo>
                    <a:pt x="443" y="270"/>
                  </a:lnTo>
                  <a:lnTo>
                    <a:pt x="431" y="264"/>
                  </a:lnTo>
                  <a:lnTo>
                    <a:pt x="419" y="258"/>
                  </a:lnTo>
                  <a:lnTo>
                    <a:pt x="407" y="253"/>
                  </a:lnTo>
                  <a:lnTo>
                    <a:pt x="394" y="249"/>
                  </a:lnTo>
                  <a:lnTo>
                    <a:pt x="381" y="245"/>
                  </a:lnTo>
                  <a:lnTo>
                    <a:pt x="368" y="242"/>
                  </a:lnTo>
                  <a:lnTo>
                    <a:pt x="355" y="239"/>
                  </a:lnTo>
                  <a:lnTo>
                    <a:pt x="341" y="237"/>
                  </a:lnTo>
                  <a:lnTo>
                    <a:pt x="328" y="235"/>
                  </a:lnTo>
                  <a:lnTo>
                    <a:pt x="314" y="234"/>
                  </a:lnTo>
                  <a:lnTo>
                    <a:pt x="300" y="234"/>
                  </a:lnTo>
                  <a:lnTo>
                    <a:pt x="285" y="234"/>
                  </a:lnTo>
                  <a:lnTo>
                    <a:pt x="270" y="235"/>
                  </a:lnTo>
                  <a:lnTo>
                    <a:pt x="256" y="237"/>
                  </a:lnTo>
                  <a:lnTo>
                    <a:pt x="242" y="240"/>
                  </a:lnTo>
                  <a:lnTo>
                    <a:pt x="228" y="243"/>
                  </a:lnTo>
                  <a:lnTo>
                    <a:pt x="214" y="247"/>
                  </a:lnTo>
                  <a:lnTo>
                    <a:pt x="200" y="251"/>
                  </a:lnTo>
                  <a:lnTo>
                    <a:pt x="187" y="256"/>
                  </a:lnTo>
                  <a:lnTo>
                    <a:pt x="174" y="262"/>
                  </a:lnTo>
                  <a:lnTo>
                    <a:pt x="161" y="268"/>
                  </a:lnTo>
                  <a:lnTo>
                    <a:pt x="149" y="274"/>
                  </a:lnTo>
                  <a:lnTo>
                    <a:pt x="137" y="282"/>
                  </a:lnTo>
                  <a:lnTo>
                    <a:pt x="126" y="290"/>
                  </a:lnTo>
                  <a:lnTo>
                    <a:pt x="115" y="298"/>
                  </a:lnTo>
                  <a:lnTo>
                    <a:pt x="104" y="307"/>
                  </a:lnTo>
                  <a:lnTo>
                    <a:pt x="94" y="316"/>
                  </a:lnTo>
                  <a:lnTo>
                    <a:pt x="84" y="326"/>
                  </a:lnTo>
                  <a:lnTo>
                    <a:pt x="74" y="336"/>
                  </a:lnTo>
                  <a:lnTo>
                    <a:pt x="65" y="347"/>
                  </a:lnTo>
                  <a:lnTo>
                    <a:pt x="57" y="358"/>
                  </a:lnTo>
                  <a:lnTo>
                    <a:pt x="49" y="369"/>
                  </a:lnTo>
                  <a:lnTo>
                    <a:pt x="41" y="381"/>
                  </a:lnTo>
                  <a:lnTo>
                    <a:pt x="35" y="393"/>
                  </a:lnTo>
                  <a:lnTo>
                    <a:pt x="28" y="405"/>
                  </a:lnTo>
                  <a:lnTo>
                    <a:pt x="22" y="418"/>
                  </a:lnTo>
                  <a:lnTo>
                    <a:pt x="17" y="431"/>
                  </a:lnTo>
                  <a:lnTo>
                    <a:pt x="13" y="445"/>
                  </a:lnTo>
                  <a:lnTo>
                    <a:pt x="9" y="459"/>
                  </a:lnTo>
                  <a:lnTo>
                    <a:pt x="5" y="473"/>
                  </a:lnTo>
                  <a:lnTo>
                    <a:pt x="3" y="487"/>
                  </a:lnTo>
                  <a:lnTo>
                    <a:pt x="1" y="501"/>
                  </a:lnTo>
                  <a:lnTo>
                    <a:pt x="0" y="516"/>
                  </a:lnTo>
                  <a:lnTo>
                    <a:pt x="3" y="488"/>
                  </a:lnTo>
                  <a:lnTo>
                    <a:pt x="6" y="463"/>
                  </a:lnTo>
                  <a:lnTo>
                    <a:pt x="10" y="438"/>
                  </a:lnTo>
                  <a:lnTo>
                    <a:pt x="15" y="413"/>
                  </a:lnTo>
                  <a:lnTo>
                    <a:pt x="21" y="389"/>
                  </a:lnTo>
                  <a:lnTo>
                    <a:pt x="28" y="365"/>
                  </a:lnTo>
                  <a:lnTo>
                    <a:pt x="36" y="341"/>
                  </a:lnTo>
                  <a:lnTo>
                    <a:pt x="45" y="319"/>
                  </a:lnTo>
                  <a:lnTo>
                    <a:pt x="55" y="296"/>
                  </a:lnTo>
                  <a:lnTo>
                    <a:pt x="66" y="275"/>
                  </a:lnTo>
                  <a:lnTo>
                    <a:pt x="77" y="253"/>
                  </a:lnTo>
                  <a:lnTo>
                    <a:pt x="90" y="233"/>
                  </a:lnTo>
                  <a:lnTo>
                    <a:pt x="103" y="213"/>
                  </a:lnTo>
                  <a:lnTo>
                    <a:pt x="117" y="194"/>
                  </a:lnTo>
                  <a:lnTo>
                    <a:pt x="132" y="176"/>
                  </a:lnTo>
                  <a:lnTo>
                    <a:pt x="147" y="158"/>
                  </a:lnTo>
                  <a:lnTo>
                    <a:pt x="164" y="141"/>
                  </a:lnTo>
                  <a:lnTo>
                    <a:pt x="181" y="125"/>
                  </a:lnTo>
                  <a:lnTo>
                    <a:pt x="198" y="110"/>
                  </a:lnTo>
                  <a:lnTo>
                    <a:pt x="217" y="96"/>
                  </a:lnTo>
                  <a:lnTo>
                    <a:pt x="235" y="82"/>
                  </a:lnTo>
                  <a:lnTo>
                    <a:pt x="255" y="70"/>
                  </a:lnTo>
                  <a:lnTo>
                    <a:pt x="275" y="58"/>
                  </a:lnTo>
                  <a:lnTo>
                    <a:pt x="295" y="47"/>
                  </a:lnTo>
                  <a:lnTo>
                    <a:pt x="316" y="38"/>
                  </a:lnTo>
                  <a:lnTo>
                    <a:pt x="338" y="29"/>
                  </a:lnTo>
                  <a:lnTo>
                    <a:pt x="360" y="22"/>
                  </a:lnTo>
                  <a:lnTo>
                    <a:pt x="382" y="15"/>
                  </a:lnTo>
                  <a:lnTo>
                    <a:pt x="393" y="12"/>
                  </a:lnTo>
                  <a:lnTo>
                    <a:pt x="405" y="10"/>
                  </a:lnTo>
                  <a:lnTo>
                    <a:pt x="416" y="7"/>
                  </a:lnTo>
                  <a:lnTo>
                    <a:pt x="428" y="6"/>
                  </a:lnTo>
                  <a:lnTo>
                    <a:pt x="440" y="4"/>
                  </a:lnTo>
                  <a:lnTo>
                    <a:pt x="452" y="2"/>
                  </a:lnTo>
                  <a:lnTo>
                    <a:pt x="463" y="1"/>
                  </a:lnTo>
                  <a:lnTo>
                    <a:pt x="475" y="1"/>
                  </a:lnTo>
                  <a:lnTo>
                    <a:pt x="487" y="0"/>
                  </a:lnTo>
                  <a:lnTo>
                    <a:pt x="499" y="0"/>
                  </a:lnTo>
                  <a:lnTo>
                    <a:pt x="511" y="0"/>
                  </a:lnTo>
                  <a:lnTo>
                    <a:pt x="523" y="1"/>
                  </a:lnTo>
                  <a:lnTo>
                    <a:pt x="535" y="1"/>
                  </a:lnTo>
                  <a:lnTo>
                    <a:pt x="547" y="2"/>
                  </a:lnTo>
                  <a:lnTo>
                    <a:pt x="559" y="4"/>
                  </a:lnTo>
                  <a:lnTo>
                    <a:pt x="571" y="6"/>
                  </a:lnTo>
                  <a:lnTo>
                    <a:pt x="582" y="7"/>
                  </a:lnTo>
                  <a:lnTo>
                    <a:pt x="594" y="10"/>
                  </a:lnTo>
                  <a:lnTo>
                    <a:pt x="605" y="12"/>
                  </a:lnTo>
                  <a:lnTo>
                    <a:pt x="616" y="15"/>
                  </a:lnTo>
                  <a:lnTo>
                    <a:pt x="639" y="22"/>
                  </a:lnTo>
                  <a:lnTo>
                    <a:pt x="660" y="29"/>
                  </a:lnTo>
                  <a:lnTo>
                    <a:pt x="682" y="38"/>
                  </a:lnTo>
                  <a:lnTo>
                    <a:pt x="703" y="47"/>
                  </a:lnTo>
                  <a:lnTo>
                    <a:pt x="723" y="58"/>
                  </a:lnTo>
                  <a:lnTo>
                    <a:pt x="743" y="70"/>
                  </a:lnTo>
                  <a:lnTo>
                    <a:pt x="762" y="82"/>
                  </a:lnTo>
                  <a:lnTo>
                    <a:pt x="781" y="96"/>
                  </a:lnTo>
                  <a:lnTo>
                    <a:pt x="799" y="110"/>
                  </a:lnTo>
                  <a:lnTo>
                    <a:pt x="817" y="125"/>
                  </a:lnTo>
                  <a:lnTo>
                    <a:pt x="834" y="141"/>
                  </a:lnTo>
                  <a:lnTo>
                    <a:pt x="850" y="158"/>
                  </a:lnTo>
                  <a:lnTo>
                    <a:pt x="865" y="175"/>
                  </a:lnTo>
                  <a:lnTo>
                    <a:pt x="880" y="194"/>
                  </a:lnTo>
                  <a:lnTo>
                    <a:pt x="894" y="213"/>
                  </a:lnTo>
                  <a:lnTo>
                    <a:pt x="907" y="233"/>
                  </a:lnTo>
                  <a:lnTo>
                    <a:pt x="920" y="253"/>
                  </a:lnTo>
                  <a:lnTo>
                    <a:pt x="931" y="274"/>
                  </a:lnTo>
                  <a:lnTo>
                    <a:pt x="942" y="296"/>
                  </a:lnTo>
                  <a:lnTo>
                    <a:pt x="952" y="318"/>
                  </a:lnTo>
                  <a:lnTo>
                    <a:pt x="961" y="341"/>
                  </a:lnTo>
                  <a:lnTo>
                    <a:pt x="969" y="364"/>
                  </a:lnTo>
                  <a:lnTo>
                    <a:pt x="976" y="388"/>
                  </a:lnTo>
                  <a:lnTo>
                    <a:pt x="982" y="412"/>
                  </a:lnTo>
                  <a:lnTo>
                    <a:pt x="987" y="437"/>
                  </a:lnTo>
                  <a:lnTo>
                    <a:pt x="991" y="462"/>
                  </a:lnTo>
                  <a:lnTo>
                    <a:pt x="994" y="487"/>
                  </a:lnTo>
                  <a:lnTo>
                    <a:pt x="1093" y="487"/>
                  </a:lnTo>
                  <a:lnTo>
                    <a:pt x="788" y="649"/>
                  </a:lnTo>
                  <a:lnTo>
                    <a:pt x="497" y="487"/>
                  </a:lnTo>
                  <a:lnTo>
                    <a:pt x="599" y="487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96"/>
            <p:cNvSpPr>
              <a:spLocks/>
            </p:cNvSpPr>
            <p:nvPr/>
          </p:nvSpPr>
          <p:spPr bwMode="auto">
            <a:xfrm>
              <a:off x="5561012" y="3484563"/>
              <a:ext cx="1447800" cy="860425"/>
            </a:xfrm>
            <a:custGeom>
              <a:avLst/>
              <a:gdLst>
                <a:gd name="T0" fmla="*/ 660981 w 1093"/>
                <a:gd name="T1" fmla="*/ 250571 h 649"/>
                <a:gd name="T2" fmla="*/ 678201 w 1093"/>
                <a:gd name="T3" fmla="*/ 299624 h 649"/>
                <a:gd name="T4" fmla="*/ 700719 w 1093"/>
                <a:gd name="T5" fmla="*/ 347352 h 649"/>
                <a:gd name="T6" fmla="*/ 729861 w 1093"/>
                <a:gd name="T7" fmla="*/ 391102 h 649"/>
                <a:gd name="T8" fmla="*/ 764301 w 1093"/>
                <a:gd name="T9" fmla="*/ 429550 h 649"/>
                <a:gd name="T10" fmla="*/ 802714 w 1093"/>
                <a:gd name="T11" fmla="*/ 465345 h 649"/>
                <a:gd name="T12" fmla="*/ 846426 w 1093"/>
                <a:gd name="T13" fmla="*/ 494512 h 649"/>
                <a:gd name="T14" fmla="*/ 892788 w 1093"/>
                <a:gd name="T15" fmla="*/ 518376 h 649"/>
                <a:gd name="T16" fmla="*/ 943123 w 1093"/>
                <a:gd name="T17" fmla="*/ 535611 h 649"/>
                <a:gd name="T18" fmla="*/ 994783 w 1093"/>
                <a:gd name="T19" fmla="*/ 546217 h 649"/>
                <a:gd name="T20" fmla="*/ 1050417 w 1093"/>
                <a:gd name="T21" fmla="*/ 550195 h 649"/>
                <a:gd name="T22" fmla="*/ 1108699 w 1093"/>
                <a:gd name="T23" fmla="*/ 546217 h 649"/>
                <a:gd name="T24" fmla="*/ 1164333 w 1093"/>
                <a:gd name="T25" fmla="*/ 534285 h 649"/>
                <a:gd name="T26" fmla="*/ 1217317 w 1093"/>
                <a:gd name="T27" fmla="*/ 514399 h 649"/>
                <a:gd name="T28" fmla="*/ 1265003 w 1093"/>
                <a:gd name="T29" fmla="*/ 486558 h 649"/>
                <a:gd name="T30" fmla="*/ 1310040 w 1093"/>
                <a:gd name="T31" fmla="*/ 454739 h 649"/>
                <a:gd name="T32" fmla="*/ 1348454 w 1093"/>
                <a:gd name="T33" fmla="*/ 414966 h 649"/>
                <a:gd name="T34" fmla="*/ 1382894 w 1093"/>
                <a:gd name="T35" fmla="*/ 371216 h 649"/>
                <a:gd name="T36" fmla="*/ 1409386 w 1093"/>
                <a:gd name="T37" fmla="*/ 323488 h 649"/>
                <a:gd name="T38" fmla="*/ 1430580 w 1093"/>
                <a:gd name="T39" fmla="*/ 270457 h 649"/>
                <a:gd name="T40" fmla="*/ 1443826 w 1093"/>
                <a:gd name="T41" fmla="*/ 214775 h 649"/>
                <a:gd name="T42" fmla="*/ 1443826 w 1093"/>
                <a:gd name="T43" fmla="*/ 213449 h 649"/>
                <a:gd name="T44" fmla="*/ 1427931 w 1093"/>
                <a:gd name="T45" fmla="*/ 312882 h 649"/>
                <a:gd name="T46" fmla="*/ 1400114 w 1093"/>
                <a:gd name="T47" fmla="*/ 408337 h 649"/>
                <a:gd name="T48" fmla="*/ 1360376 w 1093"/>
                <a:gd name="T49" fmla="*/ 497164 h 649"/>
                <a:gd name="T50" fmla="*/ 1311365 w 1093"/>
                <a:gd name="T51" fmla="*/ 578036 h 649"/>
                <a:gd name="T52" fmla="*/ 1251757 w 1093"/>
                <a:gd name="T53" fmla="*/ 650953 h 649"/>
                <a:gd name="T54" fmla="*/ 1184202 w 1093"/>
                <a:gd name="T55" fmla="*/ 714590 h 649"/>
                <a:gd name="T56" fmla="*/ 1110024 w 1093"/>
                <a:gd name="T57" fmla="*/ 768947 h 649"/>
                <a:gd name="T58" fmla="*/ 1027898 w 1093"/>
                <a:gd name="T59" fmla="*/ 810046 h 649"/>
                <a:gd name="T60" fmla="*/ 941798 w 1093"/>
                <a:gd name="T61" fmla="*/ 840538 h 649"/>
                <a:gd name="T62" fmla="*/ 895437 w 1093"/>
                <a:gd name="T63" fmla="*/ 851145 h 649"/>
                <a:gd name="T64" fmla="*/ 849076 w 1093"/>
                <a:gd name="T65" fmla="*/ 857773 h 649"/>
                <a:gd name="T66" fmla="*/ 801390 w 1093"/>
                <a:gd name="T67" fmla="*/ 860425 h 649"/>
                <a:gd name="T68" fmla="*/ 753704 w 1093"/>
                <a:gd name="T69" fmla="*/ 860425 h 649"/>
                <a:gd name="T70" fmla="*/ 707342 w 1093"/>
                <a:gd name="T71" fmla="*/ 855122 h 649"/>
                <a:gd name="T72" fmla="*/ 660981 w 1093"/>
                <a:gd name="T73" fmla="*/ 848493 h 649"/>
                <a:gd name="T74" fmla="*/ 601373 w 1093"/>
                <a:gd name="T75" fmla="*/ 832584 h 649"/>
                <a:gd name="T76" fmla="*/ 516598 w 1093"/>
                <a:gd name="T77" fmla="*/ 798114 h 649"/>
                <a:gd name="T78" fmla="*/ 437122 w 1093"/>
                <a:gd name="T79" fmla="*/ 751712 h 649"/>
                <a:gd name="T80" fmla="*/ 365593 w 1093"/>
                <a:gd name="T81" fmla="*/ 694704 h 649"/>
                <a:gd name="T82" fmla="*/ 300687 w 1093"/>
                <a:gd name="T83" fmla="*/ 628415 h 649"/>
                <a:gd name="T84" fmla="*/ 246378 w 1093"/>
                <a:gd name="T85" fmla="*/ 552846 h 649"/>
                <a:gd name="T86" fmla="*/ 200016 w 1093"/>
                <a:gd name="T87" fmla="*/ 469323 h 649"/>
                <a:gd name="T88" fmla="*/ 164252 w 1093"/>
                <a:gd name="T89" fmla="*/ 377845 h 649"/>
                <a:gd name="T90" fmla="*/ 140409 w 1093"/>
                <a:gd name="T91" fmla="*/ 282389 h 649"/>
                <a:gd name="T92" fmla="*/ 0 w 1093"/>
                <a:gd name="T93" fmla="*/ 214775 h 649"/>
                <a:gd name="T94" fmla="*/ 654358 w 1093"/>
                <a:gd name="T95" fmla="*/ 214775 h 649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093"/>
                <a:gd name="T145" fmla="*/ 0 h 649"/>
                <a:gd name="T146" fmla="*/ 1093 w 1093"/>
                <a:gd name="T147" fmla="*/ 649 h 649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093" h="649">
                  <a:moveTo>
                    <a:pt x="494" y="162"/>
                  </a:moveTo>
                  <a:lnTo>
                    <a:pt x="496" y="175"/>
                  </a:lnTo>
                  <a:lnTo>
                    <a:pt x="499" y="189"/>
                  </a:lnTo>
                  <a:lnTo>
                    <a:pt x="503" y="201"/>
                  </a:lnTo>
                  <a:lnTo>
                    <a:pt x="507" y="214"/>
                  </a:lnTo>
                  <a:lnTo>
                    <a:pt x="512" y="226"/>
                  </a:lnTo>
                  <a:lnTo>
                    <a:pt x="517" y="239"/>
                  </a:lnTo>
                  <a:lnTo>
                    <a:pt x="523" y="250"/>
                  </a:lnTo>
                  <a:lnTo>
                    <a:pt x="529" y="262"/>
                  </a:lnTo>
                  <a:lnTo>
                    <a:pt x="536" y="273"/>
                  </a:lnTo>
                  <a:lnTo>
                    <a:pt x="543" y="284"/>
                  </a:lnTo>
                  <a:lnTo>
                    <a:pt x="551" y="295"/>
                  </a:lnTo>
                  <a:lnTo>
                    <a:pt x="559" y="305"/>
                  </a:lnTo>
                  <a:lnTo>
                    <a:pt x="568" y="315"/>
                  </a:lnTo>
                  <a:lnTo>
                    <a:pt x="577" y="324"/>
                  </a:lnTo>
                  <a:lnTo>
                    <a:pt x="586" y="334"/>
                  </a:lnTo>
                  <a:lnTo>
                    <a:pt x="596" y="342"/>
                  </a:lnTo>
                  <a:lnTo>
                    <a:pt x="606" y="351"/>
                  </a:lnTo>
                  <a:lnTo>
                    <a:pt x="617" y="358"/>
                  </a:lnTo>
                  <a:lnTo>
                    <a:pt x="627" y="366"/>
                  </a:lnTo>
                  <a:lnTo>
                    <a:pt x="639" y="373"/>
                  </a:lnTo>
                  <a:lnTo>
                    <a:pt x="650" y="379"/>
                  </a:lnTo>
                  <a:lnTo>
                    <a:pt x="662" y="385"/>
                  </a:lnTo>
                  <a:lnTo>
                    <a:pt x="674" y="391"/>
                  </a:lnTo>
                  <a:lnTo>
                    <a:pt x="686" y="396"/>
                  </a:lnTo>
                  <a:lnTo>
                    <a:pt x="699" y="400"/>
                  </a:lnTo>
                  <a:lnTo>
                    <a:pt x="712" y="404"/>
                  </a:lnTo>
                  <a:lnTo>
                    <a:pt x="725" y="407"/>
                  </a:lnTo>
                  <a:lnTo>
                    <a:pt x="738" y="410"/>
                  </a:lnTo>
                  <a:lnTo>
                    <a:pt x="751" y="412"/>
                  </a:lnTo>
                  <a:lnTo>
                    <a:pt x="765" y="414"/>
                  </a:lnTo>
                  <a:lnTo>
                    <a:pt x="779" y="415"/>
                  </a:lnTo>
                  <a:lnTo>
                    <a:pt x="793" y="415"/>
                  </a:lnTo>
                  <a:lnTo>
                    <a:pt x="808" y="415"/>
                  </a:lnTo>
                  <a:lnTo>
                    <a:pt x="822" y="414"/>
                  </a:lnTo>
                  <a:lnTo>
                    <a:pt x="837" y="412"/>
                  </a:lnTo>
                  <a:lnTo>
                    <a:pt x="851" y="410"/>
                  </a:lnTo>
                  <a:lnTo>
                    <a:pt x="865" y="406"/>
                  </a:lnTo>
                  <a:lnTo>
                    <a:pt x="879" y="403"/>
                  </a:lnTo>
                  <a:lnTo>
                    <a:pt x="892" y="398"/>
                  </a:lnTo>
                  <a:lnTo>
                    <a:pt x="906" y="393"/>
                  </a:lnTo>
                  <a:lnTo>
                    <a:pt x="919" y="388"/>
                  </a:lnTo>
                  <a:lnTo>
                    <a:pt x="931" y="382"/>
                  </a:lnTo>
                  <a:lnTo>
                    <a:pt x="943" y="375"/>
                  </a:lnTo>
                  <a:lnTo>
                    <a:pt x="955" y="367"/>
                  </a:lnTo>
                  <a:lnTo>
                    <a:pt x="967" y="360"/>
                  </a:lnTo>
                  <a:lnTo>
                    <a:pt x="978" y="351"/>
                  </a:lnTo>
                  <a:lnTo>
                    <a:pt x="989" y="343"/>
                  </a:lnTo>
                  <a:lnTo>
                    <a:pt x="999" y="333"/>
                  </a:lnTo>
                  <a:lnTo>
                    <a:pt x="1009" y="324"/>
                  </a:lnTo>
                  <a:lnTo>
                    <a:pt x="1018" y="313"/>
                  </a:lnTo>
                  <a:lnTo>
                    <a:pt x="1027" y="303"/>
                  </a:lnTo>
                  <a:lnTo>
                    <a:pt x="1036" y="292"/>
                  </a:lnTo>
                  <a:lnTo>
                    <a:pt x="1044" y="280"/>
                  </a:lnTo>
                  <a:lnTo>
                    <a:pt x="1051" y="268"/>
                  </a:lnTo>
                  <a:lnTo>
                    <a:pt x="1058" y="256"/>
                  </a:lnTo>
                  <a:lnTo>
                    <a:pt x="1064" y="244"/>
                  </a:lnTo>
                  <a:lnTo>
                    <a:pt x="1070" y="231"/>
                  </a:lnTo>
                  <a:lnTo>
                    <a:pt x="1075" y="218"/>
                  </a:lnTo>
                  <a:lnTo>
                    <a:pt x="1080" y="204"/>
                  </a:lnTo>
                  <a:lnTo>
                    <a:pt x="1084" y="191"/>
                  </a:lnTo>
                  <a:lnTo>
                    <a:pt x="1087" y="177"/>
                  </a:lnTo>
                  <a:lnTo>
                    <a:pt x="1090" y="162"/>
                  </a:lnTo>
                  <a:lnTo>
                    <a:pt x="1092" y="148"/>
                  </a:lnTo>
                  <a:lnTo>
                    <a:pt x="1093" y="133"/>
                  </a:lnTo>
                  <a:lnTo>
                    <a:pt x="1090" y="161"/>
                  </a:lnTo>
                  <a:lnTo>
                    <a:pt x="1087" y="187"/>
                  </a:lnTo>
                  <a:lnTo>
                    <a:pt x="1083" y="212"/>
                  </a:lnTo>
                  <a:lnTo>
                    <a:pt x="1078" y="236"/>
                  </a:lnTo>
                  <a:lnTo>
                    <a:pt x="1072" y="261"/>
                  </a:lnTo>
                  <a:lnTo>
                    <a:pt x="1065" y="285"/>
                  </a:lnTo>
                  <a:lnTo>
                    <a:pt x="1057" y="308"/>
                  </a:lnTo>
                  <a:lnTo>
                    <a:pt x="1048" y="331"/>
                  </a:lnTo>
                  <a:lnTo>
                    <a:pt x="1038" y="353"/>
                  </a:lnTo>
                  <a:lnTo>
                    <a:pt x="1027" y="375"/>
                  </a:lnTo>
                  <a:lnTo>
                    <a:pt x="1016" y="396"/>
                  </a:lnTo>
                  <a:lnTo>
                    <a:pt x="1003" y="416"/>
                  </a:lnTo>
                  <a:lnTo>
                    <a:pt x="990" y="436"/>
                  </a:lnTo>
                  <a:lnTo>
                    <a:pt x="976" y="455"/>
                  </a:lnTo>
                  <a:lnTo>
                    <a:pt x="961" y="473"/>
                  </a:lnTo>
                  <a:lnTo>
                    <a:pt x="945" y="491"/>
                  </a:lnTo>
                  <a:lnTo>
                    <a:pt x="929" y="508"/>
                  </a:lnTo>
                  <a:lnTo>
                    <a:pt x="912" y="524"/>
                  </a:lnTo>
                  <a:lnTo>
                    <a:pt x="894" y="539"/>
                  </a:lnTo>
                  <a:lnTo>
                    <a:pt x="876" y="554"/>
                  </a:lnTo>
                  <a:lnTo>
                    <a:pt x="857" y="567"/>
                  </a:lnTo>
                  <a:lnTo>
                    <a:pt x="838" y="580"/>
                  </a:lnTo>
                  <a:lnTo>
                    <a:pt x="818" y="591"/>
                  </a:lnTo>
                  <a:lnTo>
                    <a:pt x="797" y="602"/>
                  </a:lnTo>
                  <a:lnTo>
                    <a:pt x="776" y="611"/>
                  </a:lnTo>
                  <a:lnTo>
                    <a:pt x="755" y="620"/>
                  </a:lnTo>
                  <a:lnTo>
                    <a:pt x="733" y="628"/>
                  </a:lnTo>
                  <a:lnTo>
                    <a:pt x="711" y="634"/>
                  </a:lnTo>
                  <a:lnTo>
                    <a:pt x="699" y="637"/>
                  </a:lnTo>
                  <a:lnTo>
                    <a:pt x="688" y="639"/>
                  </a:lnTo>
                  <a:lnTo>
                    <a:pt x="676" y="642"/>
                  </a:lnTo>
                  <a:lnTo>
                    <a:pt x="665" y="644"/>
                  </a:lnTo>
                  <a:lnTo>
                    <a:pt x="653" y="645"/>
                  </a:lnTo>
                  <a:lnTo>
                    <a:pt x="641" y="647"/>
                  </a:lnTo>
                  <a:lnTo>
                    <a:pt x="629" y="648"/>
                  </a:lnTo>
                  <a:lnTo>
                    <a:pt x="617" y="649"/>
                  </a:lnTo>
                  <a:lnTo>
                    <a:pt x="605" y="649"/>
                  </a:lnTo>
                  <a:lnTo>
                    <a:pt x="593" y="649"/>
                  </a:lnTo>
                  <a:lnTo>
                    <a:pt x="581" y="649"/>
                  </a:lnTo>
                  <a:lnTo>
                    <a:pt x="569" y="649"/>
                  </a:lnTo>
                  <a:lnTo>
                    <a:pt x="557" y="648"/>
                  </a:lnTo>
                  <a:lnTo>
                    <a:pt x="545" y="647"/>
                  </a:lnTo>
                  <a:lnTo>
                    <a:pt x="534" y="645"/>
                  </a:lnTo>
                  <a:lnTo>
                    <a:pt x="522" y="644"/>
                  </a:lnTo>
                  <a:lnTo>
                    <a:pt x="510" y="642"/>
                  </a:lnTo>
                  <a:lnTo>
                    <a:pt x="499" y="640"/>
                  </a:lnTo>
                  <a:lnTo>
                    <a:pt x="488" y="637"/>
                  </a:lnTo>
                  <a:lnTo>
                    <a:pt x="476" y="634"/>
                  </a:lnTo>
                  <a:lnTo>
                    <a:pt x="454" y="628"/>
                  </a:lnTo>
                  <a:lnTo>
                    <a:pt x="432" y="620"/>
                  </a:lnTo>
                  <a:lnTo>
                    <a:pt x="411" y="612"/>
                  </a:lnTo>
                  <a:lnTo>
                    <a:pt x="390" y="602"/>
                  </a:lnTo>
                  <a:lnTo>
                    <a:pt x="370" y="591"/>
                  </a:lnTo>
                  <a:lnTo>
                    <a:pt x="350" y="580"/>
                  </a:lnTo>
                  <a:lnTo>
                    <a:pt x="330" y="567"/>
                  </a:lnTo>
                  <a:lnTo>
                    <a:pt x="312" y="554"/>
                  </a:lnTo>
                  <a:lnTo>
                    <a:pt x="293" y="539"/>
                  </a:lnTo>
                  <a:lnTo>
                    <a:pt x="276" y="524"/>
                  </a:lnTo>
                  <a:lnTo>
                    <a:pt x="259" y="508"/>
                  </a:lnTo>
                  <a:lnTo>
                    <a:pt x="243" y="491"/>
                  </a:lnTo>
                  <a:lnTo>
                    <a:pt x="227" y="474"/>
                  </a:lnTo>
                  <a:lnTo>
                    <a:pt x="213" y="455"/>
                  </a:lnTo>
                  <a:lnTo>
                    <a:pt x="199" y="436"/>
                  </a:lnTo>
                  <a:lnTo>
                    <a:pt x="186" y="417"/>
                  </a:lnTo>
                  <a:lnTo>
                    <a:pt x="173" y="396"/>
                  </a:lnTo>
                  <a:lnTo>
                    <a:pt x="162" y="375"/>
                  </a:lnTo>
                  <a:lnTo>
                    <a:pt x="151" y="354"/>
                  </a:lnTo>
                  <a:lnTo>
                    <a:pt x="141" y="331"/>
                  </a:lnTo>
                  <a:lnTo>
                    <a:pt x="132" y="309"/>
                  </a:lnTo>
                  <a:lnTo>
                    <a:pt x="124" y="285"/>
                  </a:lnTo>
                  <a:lnTo>
                    <a:pt x="117" y="262"/>
                  </a:lnTo>
                  <a:lnTo>
                    <a:pt x="111" y="237"/>
                  </a:lnTo>
                  <a:lnTo>
                    <a:pt x="106" y="213"/>
                  </a:lnTo>
                  <a:lnTo>
                    <a:pt x="102" y="188"/>
                  </a:lnTo>
                  <a:lnTo>
                    <a:pt x="99" y="162"/>
                  </a:lnTo>
                  <a:lnTo>
                    <a:pt x="0" y="162"/>
                  </a:lnTo>
                  <a:lnTo>
                    <a:pt x="305" y="0"/>
                  </a:lnTo>
                  <a:lnTo>
                    <a:pt x="596" y="162"/>
                  </a:lnTo>
                  <a:lnTo>
                    <a:pt x="494" y="162"/>
                  </a:lnTo>
                  <a:close/>
                </a:path>
              </a:pathLst>
            </a:custGeom>
            <a:solidFill>
              <a:schemeClr val="fol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9" name="Picture 97" descr="MCj04316400000[1]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011987" y="3990975"/>
              <a:ext cx="492125" cy="492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0" name="Text Box 98"/>
            <p:cNvSpPr txBox="1">
              <a:spLocks noChangeArrowheads="1"/>
            </p:cNvSpPr>
            <p:nvPr/>
          </p:nvSpPr>
          <p:spPr bwMode="gray">
            <a:xfrm>
              <a:off x="5800725" y="2481263"/>
              <a:ext cx="1816100" cy="2206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0"/>
                </a:spcBef>
              </a:pPr>
              <a:r>
                <a:rPr lang="en-US" sz="1600" b="1">
                  <a:latin typeface="Arial" charset="0"/>
                </a:rPr>
                <a:t>Recommendations</a:t>
              </a:r>
            </a:p>
          </p:txBody>
        </p:sp>
        <p:sp>
          <p:nvSpPr>
            <p:cNvPr id="61" name="AutoShape 99"/>
            <p:cNvSpPr>
              <a:spLocks noChangeArrowheads="1"/>
            </p:cNvSpPr>
            <p:nvPr/>
          </p:nvSpPr>
          <p:spPr bwMode="gray">
            <a:xfrm rot="5400000">
              <a:off x="4683919" y="3653631"/>
              <a:ext cx="1333500" cy="173037"/>
            </a:xfrm>
            <a:prstGeom prst="triangle">
              <a:avLst>
                <a:gd name="adj" fmla="val 50000"/>
              </a:avLst>
            </a:prstGeom>
            <a:solidFill>
              <a:schemeClr val="bg2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2" name="Group 100"/>
            <p:cNvGrpSpPr>
              <a:grpSpLocks/>
            </p:cNvGrpSpPr>
            <p:nvPr/>
          </p:nvGrpSpPr>
          <p:grpSpPr bwMode="auto">
            <a:xfrm>
              <a:off x="5838825" y="3794125"/>
              <a:ext cx="461962" cy="412750"/>
              <a:chOff x="1525" y="1344"/>
              <a:chExt cx="291" cy="260"/>
            </a:xfrm>
          </p:grpSpPr>
          <p:sp>
            <p:nvSpPr>
              <p:cNvPr id="63" name="Oval 101"/>
              <p:cNvSpPr>
                <a:spLocks noChangeArrowheads="1"/>
              </p:cNvSpPr>
              <p:nvPr/>
            </p:nvSpPr>
            <p:spPr bwMode="gray">
              <a:xfrm>
                <a:off x="1525" y="1344"/>
                <a:ext cx="291" cy="260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64" name="Oval 102"/>
              <p:cNvSpPr>
                <a:spLocks noChangeArrowheads="1"/>
              </p:cNvSpPr>
              <p:nvPr/>
            </p:nvSpPr>
            <p:spPr bwMode="gray">
              <a:xfrm>
                <a:off x="1634" y="1442"/>
                <a:ext cx="72" cy="65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lnSpc>
                    <a:spcPct val="90000"/>
                  </a:lnSpc>
                  <a:spcBef>
                    <a:spcPct val="0"/>
                  </a:spcBef>
                </a:pPr>
                <a:endParaRPr lang="en-US" sz="3400" b="1">
                  <a:latin typeface="Arial" charset="0"/>
                </a:endParaRPr>
              </a:p>
            </p:txBody>
          </p:sp>
        </p:grpSp>
        <p:grpSp>
          <p:nvGrpSpPr>
            <p:cNvPr id="65" name="Group 103"/>
            <p:cNvGrpSpPr>
              <a:grpSpLocks/>
            </p:cNvGrpSpPr>
            <p:nvPr/>
          </p:nvGrpSpPr>
          <p:grpSpPr bwMode="auto">
            <a:xfrm>
              <a:off x="6923087" y="3103563"/>
              <a:ext cx="461963" cy="412750"/>
              <a:chOff x="1525" y="1344"/>
              <a:chExt cx="291" cy="260"/>
            </a:xfrm>
          </p:grpSpPr>
          <p:sp>
            <p:nvSpPr>
              <p:cNvPr id="66" name="Oval 104"/>
              <p:cNvSpPr>
                <a:spLocks noChangeArrowheads="1"/>
              </p:cNvSpPr>
              <p:nvPr/>
            </p:nvSpPr>
            <p:spPr bwMode="gray">
              <a:xfrm>
                <a:off x="1525" y="1344"/>
                <a:ext cx="291" cy="260"/>
              </a:xfrm>
              <a:prstGeom prst="ellipse">
                <a:avLst/>
              </a:prstGeom>
              <a:gradFill rotWithShape="1">
                <a:gsLst>
                  <a:gs pos="0">
                    <a:srgbClr val="FFFF00"/>
                  </a:gs>
                  <a:gs pos="100000">
                    <a:srgbClr val="767600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endParaRPr lang="en-US"/>
              </a:p>
            </p:txBody>
          </p:sp>
          <p:sp>
            <p:nvSpPr>
              <p:cNvPr id="67" name="Oval 105"/>
              <p:cNvSpPr>
                <a:spLocks noChangeArrowheads="1"/>
              </p:cNvSpPr>
              <p:nvPr/>
            </p:nvSpPr>
            <p:spPr bwMode="gray">
              <a:xfrm>
                <a:off x="1634" y="1442"/>
                <a:ext cx="72" cy="65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eaLnBrk="1" hangingPunct="1">
                  <a:lnSpc>
                    <a:spcPct val="90000"/>
                  </a:lnSpc>
                  <a:spcBef>
                    <a:spcPct val="0"/>
                  </a:spcBef>
                </a:pPr>
                <a:endParaRPr lang="en-US" sz="3400" b="1">
                  <a:latin typeface="Arial" charset="0"/>
                </a:endParaRPr>
              </a:p>
            </p:txBody>
          </p:sp>
        </p:grpSp>
      </p:grp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95600" y="2438400"/>
            <a:ext cx="355282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 bwMode="gray">
          <a:noFill/>
        </p:spPr>
        <p:txBody>
          <a:bodyPr lIns="45720" tIns="44450" rIns="45720" bIns="44450"/>
          <a:lstStyle/>
          <a:p>
            <a:pPr eaLnBrk="1" hangingPunct="1"/>
            <a:r>
              <a:rPr lang="en-US" smtClean="0"/>
              <a:t>The Amazon Approach</a:t>
            </a: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4162425" y="1804988"/>
            <a:ext cx="4838700" cy="1727200"/>
            <a:chOff x="2622" y="1338"/>
            <a:chExt cx="3048" cy="1088"/>
          </a:xfrm>
        </p:grpSpPr>
        <p:pic>
          <p:nvPicPr>
            <p:cNvPr id="63504" name="Picture 5"/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7"/>
            <a:srcRect l="1759" t="68033" r="50275" b="16278"/>
            <a:stretch>
              <a:fillRect/>
            </a:stretch>
          </p:blipFill>
          <p:spPr bwMode="auto">
            <a:xfrm>
              <a:off x="2622" y="1338"/>
              <a:ext cx="3048" cy="8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grpSp>
          <p:nvGrpSpPr>
            <p:cNvPr id="3" name="Group 23"/>
            <p:cNvGrpSpPr>
              <a:grpSpLocks/>
            </p:cNvGrpSpPr>
            <p:nvPr/>
          </p:nvGrpSpPr>
          <p:grpSpPr bwMode="auto">
            <a:xfrm>
              <a:off x="2839" y="2206"/>
              <a:ext cx="1768" cy="220"/>
              <a:chOff x="2839" y="2296"/>
              <a:chExt cx="1768" cy="220"/>
            </a:xfrm>
          </p:grpSpPr>
          <p:sp>
            <p:nvSpPr>
              <p:cNvPr id="783367" name="Oval 7"/>
              <p:cNvSpPr>
                <a:spLocks noChangeArrowheads="1"/>
              </p:cNvSpPr>
              <p:nvPr/>
            </p:nvSpPr>
            <p:spPr bwMode="auto">
              <a:xfrm>
                <a:off x="2839" y="2296"/>
                <a:ext cx="161" cy="173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spcBef>
                    <a:spcPct val="0"/>
                  </a:spcBef>
                  <a:defRPr/>
                </a:pPr>
                <a:r>
                  <a:rPr lang="en-US" sz="12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2</a:t>
                </a:r>
              </a:p>
            </p:txBody>
          </p:sp>
          <p:sp>
            <p:nvSpPr>
              <p:cNvPr id="63507" name="Text Box 11"/>
              <p:cNvSpPr txBox="1">
                <a:spLocks noChangeArrowheads="1"/>
              </p:cNvSpPr>
              <p:nvPr/>
            </p:nvSpPr>
            <p:spPr bwMode="auto">
              <a:xfrm>
                <a:off x="3013" y="2296"/>
                <a:ext cx="1594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en-US" sz="1200">
                    <a:latin typeface="Arial" charset="0"/>
                  </a:rPr>
                  <a:t>A bundle is created based on the look-alikes</a:t>
                </a:r>
                <a:endParaRPr lang="en-US" sz="1200" u="sng">
                  <a:latin typeface="Arial" charset="0"/>
                </a:endParaRPr>
              </a:p>
              <a:p>
                <a:pPr algn="l" eaLnBrk="1" hangingPunct="1">
                  <a:spcBef>
                    <a:spcPct val="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endParaRPr lang="en-US" sz="1200">
                  <a:latin typeface="Arial" charset="0"/>
                </a:endParaRPr>
              </a:p>
            </p:txBody>
          </p:sp>
        </p:grp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250825" y="1717675"/>
            <a:ext cx="3770313" cy="2513013"/>
            <a:chOff x="158" y="1283"/>
            <a:chExt cx="2375" cy="1583"/>
          </a:xfrm>
        </p:grpSpPr>
        <p:pic>
          <p:nvPicPr>
            <p:cNvPr id="63500" name="Picture 3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7"/>
            <a:srcRect l="1759" t="19856" r="39563" b="50191"/>
            <a:stretch>
              <a:fillRect/>
            </a:stretch>
          </p:blipFill>
          <p:spPr bwMode="auto">
            <a:xfrm>
              <a:off x="158" y="1283"/>
              <a:ext cx="1841" cy="84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grpSp>
          <p:nvGrpSpPr>
            <p:cNvPr id="5" name="Group 18"/>
            <p:cNvGrpSpPr>
              <a:grpSpLocks/>
            </p:cNvGrpSpPr>
            <p:nvPr/>
          </p:nvGrpSpPr>
          <p:grpSpPr bwMode="auto">
            <a:xfrm>
              <a:off x="178" y="2206"/>
              <a:ext cx="2355" cy="660"/>
              <a:chOff x="2042" y="996"/>
              <a:chExt cx="1864" cy="660"/>
            </a:xfrm>
          </p:grpSpPr>
          <p:sp>
            <p:nvSpPr>
              <p:cNvPr id="63502" name="Text Box 4"/>
              <p:cNvSpPr txBox="1">
                <a:spLocks noChangeArrowheads="1"/>
              </p:cNvSpPr>
              <p:nvPr/>
            </p:nvSpPr>
            <p:spPr bwMode="auto">
              <a:xfrm>
                <a:off x="2203" y="996"/>
                <a:ext cx="1703" cy="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en-US" sz="1200" dirty="0">
                    <a:latin typeface="Arial" charset="0"/>
                  </a:rPr>
                  <a:t>Customer views an item</a:t>
                </a:r>
              </a:p>
              <a:p>
                <a:pPr algn="l" eaLnBrk="1" hangingPunct="1">
                  <a:spcBef>
                    <a:spcPct val="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endParaRPr lang="en-US" sz="1200" dirty="0">
                  <a:latin typeface="Arial" charset="0"/>
                </a:endParaRPr>
              </a:p>
              <a:p>
                <a:pPr algn="l" eaLnBrk="1" hangingPunct="1">
                  <a:spcBef>
                    <a:spcPct val="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en-US" sz="1200" dirty="0">
                    <a:latin typeface="Arial" charset="0"/>
                  </a:rPr>
                  <a:t>Amazon immediately identifies his profile and recent history, the product attributes and the behavior of similar customers</a:t>
                </a:r>
              </a:p>
              <a:p>
                <a:pPr algn="l" eaLnBrk="1" hangingPunct="1">
                  <a:spcBef>
                    <a:spcPct val="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endParaRPr lang="en-US" sz="1200" dirty="0">
                  <a:latin typeface="Arial" charset="0"/>
                </a:endParaRPr>
              </a:p>
            </p:txBody>
          </p:sp>
          <p:sp>
            <p:nvSpPr>
              <p:cNvPr id="783377" name="Oval 17"/>
              <p:cNvSpPr>
                <a:spLocks noChangeArrowheads="1"/>
              </p:cNvSpPr>
              <p:nvPr/>
            </p:nvSpPr>
            <p:spPr bwMode="auto">
              <a:xfrm>
                <a:off x="2042" y="996"/>
                <a:ext cx="161" cy="173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spcBef>
                    <a:spcPct val="0"/>
                  </a:spcBef>
                  <a:defRPr/>
                </a:pPr>
                <a:r>
                  <a:rPr lang="en-US" sz="12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1</a:t>
                </a:r>
              </a:p>
            </p:txBody>
          </p:sp>
        </p:grp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212725" y="3727450"/>
            <a:ext cx="8653463" cy="2600325"/>
            <a:chOff x="134" y="2646"/>
            <a:chExt cx="5451" cy="1638"/>
          </a:xfrm>
        </p:grpSpPr>
        <p:pic>
          <p:nvPicPr>
            <p:cNvPr id="63495" name="Picture 6"/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7"/>
            <a:srcRect l="1759" t="85139" r="52437" b="3282"/>
            <a:stretch>
              <a:fillRect/>
            </a:stretch>
          </p:blipFill>
          <p:spPr bwMode="auto">
            <a:xfrm>
              <a:off x="2826" y="3048"/>
              <a:ext cx="2759" cy="63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pic>
          <p:nvPicPr>
            <p:cNvPr id="63496" name="Picture 10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8"/>
            <a:srcRect l="63046" t="60103" r="4253" b="17528"/>
            <a:stretch>
              <a:fillRect/>
            </a:stretch>
          </p:blipFill>
          <p:spPr bwMode="auto">
            <a:xfrm>
              <a:off x="134" y="2925"/>
              <a:ext cx="2175" cy="135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grpSp>
          <p:nvGrpSpPr>
            <p:cNvPr id="7" name="Group 21"/>
            <p:cNvGrpSpPr>
              <a:grpSpLocks/>
            </p:cNvGrpSpPr>
            <p:nvPr/>
          </p:nvGrpSpPr>
          <p:grpSpPr bwMode="auto">
            <a:xfrm>
              <a:off x="2832" y="2646"/>
              <a:ext cx="1769" cy="220"/>
              <a:chOff x="2681" y="3370"/>
              <a:chExt cx="1769" cy="220"/>
            </a:xfrm>
          </p:grpSpPr>
          <p:sp>
            <p:nvSpPr>
              <p:cNvPr id="783368" name="Oval 8"/>
              <p:cNvSpPr>
                <a:spLocks noChangeArrowheads="1"/>
              </p:cNvSpPr>
              <p:nvPr/>
            </p:nvSpPr>
            <p:spPr bwMode="auto">
              <a:xfrm>
                <a:off x="2681" y="3370"/>
                <a:ext cx="161" cy="173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spcBef>
                    <a:spcPct val="0"/>
                  </a:spcBef>
                  <a:defRPr/>
                </a:pPr>
                <a:r>
                  <a:rPr lang="en-US" sz="12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3</a:t>
                </a:r>
              </a:p>
            </p:txBody>
          </p:sp>
          <p:sp>
            <p:nvSpPr>
              <p:cNvPr id="63499" name="Text Box 12"/>
              <p:cNvSpPr txBox="1">
                <a:spLocks noChangeArrowheads="1"/>
              </p:cNvSpPr>
              <p:nvPr/>
            </p:nvSpPr>
            <p:spPr bwMode="auto">
              <a:xfrm>
                <a:off x="2856" y="3370"/>
                <a:ext cx="1594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en-US" sz="1200">
                    <a:latin typeface="Arial" charset="0"/>
                  </a:rPr>
                  <a:t>Additional items are proposed, based on </a:t>
                </a:r>
                <a:r>
                  <a:rPr lang="en-US" sz="1200" u="sng">
                    <a:latin typeface="Arial" charset="0"/>
                  </a:rPr>
                  <a:t>other</a:t>
                </a:r>
                <a:r>
                  <a:rPr lang="en-US" sz="1200">
                    <a:latin typeface="Arial" charset="0"/>
                  </a:rPr>
                  <a:t> customers’ buying behavior</a:t>
                </a:r>
              </a:p>
              <a:p>
                <a:pPr algn="l" eaLnBrk="1" hangingPunct="1">
                  <a:spcBef>
                    <a:spcPct val="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endParaRPr lang="en-US" sz="1200">
                  <a:latin typeface="Arial" charset="0"/>
                </a:endParaRPr>
              </a:p>
            </p:txBody>
          </p:sp>
        </p:grpSp>
      </p:grpSp>
      <p:sp>
        <p:nvSpPr>
          <p:cNvPr id="63494" name="Text Box 22"/>
          <p:cNvSpPr txBox="1">
            <a:spLocks noChangeArrowheads="1"/>
          </p:cNvSpPr>
          <p:nvPr/>
        </p:nvSpPr>
        <p:spPr bwMode="auto">
          <a:xfrm>
            <a:off x="490538" y="1143000"/>
            <a:ext cx="83105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Arial" charset="0"/>
              </a:rPr>
              <a:t>Amazon uses all available information about customers in order to present the most relevant offer possible.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 bwMode="gray">
          <a:noFill/>
        </p:spPr>
        <p:txBody>
          <a:bodyPr lIns="45720" tIns="44450" rIns="45720" bIns="44450"/>
          <a:lstStyle/>
          <a:p>
            <a:pPr eaLnBrk="1" hangingPunct="1"/>
            <a:r>
              <a:rPr lang="en-US" dirty="0" smtClean="0"/>
              <a:t>The Netflix Approach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457200" y="1838325"/>
            <a:ext cx="3886199" cy="2314575"/>
            <a:chOff x="288" y="1352"/>
            <a:chExt cx="2448" cy="1458"/>
          </a:xfrm>
        </p:grpSpPr>
        <p:grpSp>
          <p:nvGrpSpPr>
            <p:cNvPr id="3" name="Group 21"/>
            <p:cNvGrpSpPr>
              <a:grpSpLocks/>
            </p:cNvGrpSpPr>
            <p:nvPr/>
          </p:nvGrpSpPr>
          <p:grpSpPr bwMode="auto">
            <a:xfrm>
              <a:off x="299" y="1352"/>
              <a:ext cx="2437" cy="660"/>
              <a:chOff x="2042" y="1179"/>
              <a:chExt cx="1864" cy="660"/>
            </a:xfrm>
          </p:grpSpPr>
          <p:sp>
            <p:nvSpPr>
              <p:cNvPr id="64534" name="Text Box 3"/>
              <p:cNvSpPr txBox="1">
                <a:spLocks noChangeArrowheads="1"/>
              </p:cNvSpPr>
              <p:nvPr/>
            </p:nvSpPr>
            <p:spPr bwMode="auto">
              <a:xfrm>
                <a:off x="2203" y="1179"/>
                <a:ext cx="1703" cy="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en-US" sz="1600" dirty="0" smtClean="0">
                    <a:latin typeface="Arial" charset="0"/>
                  </a:rPr>
                  <a:t>Customer asked </a:t>
                </a:r>
                <a:r>
                  <a:rPr lang="en-US" sz="1600" dirty="0">
                    <a:latin typeface="Arial" charset="0"/>
                  </a:rPr>
                  <a:t>to rate movies </a:t>
                </a:r>
              </a:p>
              <a:p>
                <a:pPr algn="l" eaLnBrk="1" hangingPunct="1">
                  <a:spcBef>
                    <a:spcPct val="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en-US" sz="1600" dirty="0" smtClean="0">
                    <a:latin typeface="Arial" charset="0"/>
                  </a:rPr>
                  <a:t>Movie </a:t>
                </a:r>
                <a:r>
                  <a:rPr lang="en-US" sz="1600" dirty="0">
                    <a:latin typeface="Arial" charset="0"/>
                  </a:rPr>
                  <a:t>ratings are used by Netflix to build the customer “persona”</a:t>
                </a:r>
              </a:p>
              <a:p>
                <a:pPr algn="l" eaLnBrk="1" hangingPunct="1">
                  <a:spcBef>
                    <a:spcPct val="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endParaRPr lang="en-US" dirty="0">
                  <a:latin typeface="Arial" charset="0"/>
                </a:endParaRPr>
              </a:p>
            </p:txBody>
          </p:sp>
          <p:sp>
            <p:nvSpPr>
              <p:cNvPr id="785418" name="Oval 10"/>
              <p:cNvSpPr>
                <a:spLocks noChangeArrowheads="1"/>
              </p:cNvSpPr>
              <p:nvPr/>
            </p:nvSpPr>
            <p:spPr bwMode="auto">
              <a:xfrm>
                <a:off x="2042" y="1179"/>
                <a:ext cx="161" cy="173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spcBef>
                    <a:spcPct val="0"/>
                  </a:spcBef>
                  <a:defRPr/>
                </a:pPr>
                <a:r>
                  <a:rPr lang="en-US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1</a:t>
                </a:r>
              </a:p>
            </p:txBody>
          </p:sp>
        </p:grpSp>
        <p:pic>
          <p:nvPicPr>
            <p:cNvPr id="64533" name="Picture 14"/>
            <p:cNvPicPr>
              <a:picLocks noChangeAspect="1" noChangeArrowheads="1"/>
            </p:cNvPicPr>
            <p:nvPr/>
          </p:nvPicPr>
          <p:blipFill>
            <a:blip r:embed="rId4"/>
            <a:srcRect l="20917" t="21126" r="34744" b="56396"/>
            <a:stretch>
              <a:fillRect/>
            </a:stretch>
          </p:blipFill>
          <p:spPr bwMode="auto">
            <a:xfrm>
              <a:off x="288" y="2018"/>
              <a:ext cx="2136" cy="7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5126038" y="1676401"/>
            <a:ext cx="3478212" cy="1944688"/>
            <a:chOff x="3229" y="1285"/>
            <a:chExt cx="2191" cy="1225"/>
          </a:xfrm>
        </p:grpSpPr>
        <p:grpSp>
          <p:nvGrpSpPr>
            <p:cNvPr id="5" name="Group 20"/>
            <p:cNvGrpSpPr>
              <a:grpSpLocks/>
            </p:cNvGrpSpPr>
            <p:nvPr/>
          </p:nvGrpSpPr>
          <p:grpSpPr bwMode="auto">
            <a:xfrm>
              <a:off x="3229" y="1285"/>
              <a:ext cx="2191" cy="267"/>
              <a:chOff x="2055" y="1913"/>
              <a:chExt cx="1778" cy="267"/>
            </a:xfrm>
          </p:grpSpPr>
          <p:sp>
            <p:nvSpPr>
              <p:cNvPr id="785412" name="Oval 4"/>
              <p:cNvSpPr>
                <a:spLocks noChangeArrowheads="1"/>
              </p:cNvSpPr>
              <p:nvPr/>
            </p:nvSpPr>
            <p:spPr bwMode="auto">
              <a:xfrm>
                <a:off x="2055" y="2007"/>
                <a:ext cx="161" cy="173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spcBef>
                    <a:spcPct val="0"/>
                  </a:spcBef>
                  <a:defRPr/>
                </a:pPr>
                <a:r>
                  <a:rPr lang="en-US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2</a:t>
                </a:r>
              </a:p>
            </p:txBody>
          </p:sp>
          <p:sp>
            <p:nvSpPr>
              <p:cNvPr id="64531" name="Text Box 6"/>
              <p:cNvSpPr txBox="1">
                <a:spLocks noChangeArrowheads="1"/>
              </p:cNvSpPr>
              <p:nvPr/>
            </p:nvSpPr>
            <p:spPr bwMode="auto">
              <a:xfrm>
                <a:off x="2239" y="1913"/>
                <a:ext cx="1594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en-US" sz="1600" dirty="0">
                    <a:latin typeface="Arial" charset="0"/>
                  </a:rPr>
                  <a:t>Based on the “</a:t>
                </a:r>
                <a:r>
                  <a:rPr lang="en-US" sz="1600" u="sng" dirty="0">
                    <a:latin typeface="Arial" charset="0"/>
                  </a:rPr>
                  <a:t>persona</a:t>
                </a:r>
                <a:r>
                  <a:rPr lang="en-US" sz="1600" dirty="0">
                    <a:latin typeface="Arial" charset="0"/>
                  </a:rPr>
                  <a:t>”, a group of movies the Customer will probably like is created</a:t>
                </a:r>
              </a:p>
            </p:txBody>
          </p:sp>
        </p:grpSp>
        <p:pic>
          <p:nvPicPr>
            <p:cNvPr id="64529" name="Picture 15"/>
            <p:cNvPicPr>
              <a:picLocks noChangeAspect="1" noChangeArrowheads="1"/>
            </p:cNvPicPr>
            <p:nvPr/>
          </p:nvPicPr>
          <p:blipFill>
            <a:blip r:embed="rId4"/>
            <a:srcRect l="64751" t="27214" r="23607" b="65152"/>
            <a:stretch>
              <a:fillRect/>
            </a:stretch>
          </p:blipFill>
          <p:spPr bwMode="auto">
            <a:xfrm>
              <a:off x="3536" y="1822"/>
              <a:ext cx="1435" cy="6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477838" y="4333875"/>
            <a:ext cx="3370262" cy="2057400"/>
            <a:chOff x="301" y="2966"/>
            <a:chExt cx="2123" cy="1296"/>
          </a:xfrm>
        </p:grpSpPr>
        <p:grpSp>
          <p:nvGrpSpPr>
            <p:cNvPr id="7" name="Group 23"/>
            <p:cNvGrpSpPr>
              <a:grpSpLocks/>
            </p:cNvGrpSpPr>
            <p:nvPr/>
          </p:nvGrpSpPr>
          <p:grpSpPr bwMode="auto">
            <a:xfrm>
              <a:off x="301" y="2966"/>
              <a:ext cx="2123" cy="220"/>
              <a:chOff x="2055" y="2660"/>
              <a:chExt cx="1742" cy="220"/>
            </a:xfrm>
          </p:grpSpPr>
          <p:sp>
            <p:nvSpPr>
              <p:cNvPr id="785413" name="Oval 5"/>
              <p:cNvSpPr>
                <a:spLocks noChangeArrowheads="1"/>
              </p:cNvSpPr>
              <p:nvPr/>
            </p:nvSpPr>
            <p:spPr bwMode="auto">
              <a:xfrm>
                <a:off x="2055" y="2699"/>
                <a:ext cx="161" cy="173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spcBef>
                    <a:spcPct val="0"/>
                  </a:spcBef>
                  <a:defRPr/>
                </a:pPr>
                <a:r>
                  <a:rPr lang="en-US" sz="12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3</a:t>
                </a:r>
              </a:p>
            </p:txBody>
          </p:sp>
          <p:sp>
            <p:nvSpPr>
              <p:cNvPr id="64527" name="Text Box 7"/>
              <p:cNvSpPr txBox="1">
                <a:spLocks noChangeArrowheads="1"/>
              </p:cNvSpPr>
              <p:nvPr/>
            </p:nvSpPr>
            <p:spPr bwMode="auto">
              <a:xfrm>
                <a:off x="2203" y="2660"/>
                <a:ext cx="1594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en-US" sz="1600" dirty="0">
                    <a:latin typeface="Arial" charset="0"/>
                  </a:rPr>
                  <a:t>A movie is then recommended</a:t>
                </a:r>
              </a:p>
              <a:p>
                <a:pPr algn="l" eaLnBrk="1" hangingPunct="1">
                  <a:spcBef>
                    <a:spcPct val="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endParaRPr lang="en-US" sz="1600" dirty="0">
                  <a:latin typeface="Arial" charset="0"/>
                </a:endParaRPr>
              </a:p>
            </p:txBody>
          </p:sp>
        </p:grpSp>
        <p:pic>
          <p:nvPicPr>
            <p:cNvPr id="64525" name="Picture 16"/>
            <p:cNvPicPr>
              <a:picLocks noChangeAspect="1" noChangeArrowheads="1"/>
            </p:cNvPicPr>
            <p:nvPr/>
          </p:nvPicPr>
          <p:blipFill>
            <a:blip r:embed="rId5"/>
            <a:srcRect l="16759" t="27361" r="57039" b="43179"/>
            <a:stretch>
              <a:fillRect/>
            </a:stretch>
          </p:blipFill>
          <p:spPr bwMode="auto">
            <a:xfrm>
              <a:off x="352" y="3229"/>
              <a:ext cx="1256" cy="10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sp>
        <p:nvSpPr>
          <p:cNvPr id="64518" name="TTVSubjectTitle_ID_73426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74663" y="1154113"/>
            <a:ext cx="8504237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 dirty="0">
                <a:latin typeface="Arial" charset="0"/>
              </a:rPr>
              <a:t>Utilizing customer information, Netflix is able to improve profits through its recommendation engine. </a:t>
            </a:r>
          </a:p>
        </p:txBody>
      </p:sp>
      <p:grpSp>
        <p:nvGrpSpPr>
          <p:cNvPr id="8" name="Group 29"/>
          <p:cNvGrpSpPr>
            <a:grpSpLocks/>
          </p:cNvGrpSpPr>
          <p:nvPr/>
        </p:nvGrpSpPr>
        <p:grpSpPr bwMode="auto">
          <a:xfrm>
            <a:off x="4494212" y="3962402"/>
            <a:ext cx="4035424" cy="2392363"/>
            <a:chOff x="2831" y="2767"/>
            <a:chExt cx="2542" cy="1507"/>
          </a:xfrm>
        </p:grpSpPr>
        <p:pic>
          <p:nvPicPr>
            <p:cNvPr id="64520" name="Picture 17"/>
            <p:cNvPicPr>
              <a:picLocks noChangeAspect="1" noChangeArrowheads="1"/>
            </p:cNvPicPr>
            <p:nvPr/>
          </p:nvPicPr>
          <p:blipFill>
            <a:blip r:embed="rId5"/>
            <a:srcRect l="41251" t="68246" r="24286" b="10757"/>
            <a:stretch>
              <a:fillRect/>
            </a:stretch>
          </p:blipFill>
          <p:spPr bwMode="auto">
            <a:xfrm>
              <a:off x="2831" y="3198"/>
              <a:ext cx="2416" cy="107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grpSp>
          <p:nvGrpSpPr>
            <p:cNvPr id="9" name="Group 22"/>
            <p:cNvGrpSpPr>
              <a:grpSpLocks/>
            </p:cNvGrpSpPr>
            <p:nvPr/>
          </p:nvGrpSpPr>
          <p:grpSpPr bwMode="auto">
            <a:xfrm>
              <a:off x="3227" y="2767"/>
              <a:ext cx="2146" cy="411"/>
              <a:chOff x="2055" y="3313"/>
              <a:chExt cx="1784" cy="411"/>
            </a:xfrm>
          </p:grpSpPr>
          <p:sp>
            <p:nvSpPr>
              <p:cNvPr id="64522" name="Text Box 8"/>
              <p:cNvSpPr txBox="1">
                <a:spLocks noChangeArrowheads="1"/>
              </p:cNvSpPr>
              <p:nvPr/>
            </p:nvSpPr>
            <p:spPr bwMode="auto">
              <a:xfrm>
                <a:off x="2245" y="3313"/>
                <a:ext cx="1594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Clr>
                    <a:schemeClr val="accent2"/>
                  </a:buClr>
                  <a:buFont typeface="Wingdings" pitchFamily="2" charset="2"/>
                  <a:buNone/>
                </a:pPr>
                <a:r>
                  <a:rPr lang="en-US" sz="1600" dirty="0">
                    <a:latin typeface="Arial" charset="0"/>
                  </a:rPr>
                  <a:t>Based on the ratings provided by customer with a similar “persona</a:t>
                </a:r>
                <a:r>
                  <a:rPr lang="en-US" sz="1600" dirty="0" smtClean="0">
                    <a:latin typeface="Arial" charset="0"/>
                  </a:rPr>
                  <a:t>”</a:t>
                </a:r>
                <a:endParaRPr lang="en-US" sz="1600" u="sng" dirty="0">
                  <a:latin typeface="Arial" charset="0"/>
                </a:endParaRPr>
              </a:p>
            </p:txBody>
          </p:sp>
          <p:sp>
            <p:nvSpPr>
              <p:cNvPr id="785417" name="Oval 9"/>
              <p:cNvSpPr>
                <a:spLocks noChangeArrowheads="1"/>
              </p:cNvSpPr>
              <p:nvPr/>
            </p:nvSpPr>
            <p:spPr bwMode="auto">
              <a:xfrm>
                <a:off x="2055" y="3550"/>
                <a:ext cx="161" cy="174"/>
              </a:xfrm>
              <a:prstGeom prst="ellipse">
                <a:avLst/>
              </a:prstGeom>
              <a:solidFill>
                <a:schemeClr val="accent2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spcBef>
                    <a:spcPct val="0"/>
                  </a:spcBef>
                  <a:defRPr/>
                </a:pPr>
                <a:r>
                  <a:rPr lang="en-US" sz="12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</a:rPr>
                  <a:t>4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TVActionTitle_ID_3077126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en-US" sz="4800" smtClean="0"/>
              <a:t>Cinematch Engine</a:t>
            </a:r>
          </a:p>
        </p:txBody>
      </p:sp>
      <p:sp>
        <p:nvSpPr>
          <p:cNvPr id="842754" name="Rectangle 2"/>
          <p:cNvSpPr>
            <a:spLocks noChangeArrowheads="1"/>
          </p:cNvSpPr>
          <p:nvPr/>
        </p:nvSpPr>
        <p:spPr bwMode="gray">
          <a:xfrm>
            <a:off x="6835775" y="2540000"/>
            <a:ext cx="2133600" cy="19589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55" name="Rectangle 3"/>
          <p:cNvSpPr>
            <a:spLocks noChangeArrowheads="1"/>
          </p:cNvSpPr>
          <p:nvPr/>
        </p:nvSpPr>
        <p:spPr bwMode="gray">
          <a:xfrm>
            <a:off x="3519488" y="2540000"/>
            <a:ext cx="2970212" cy="19589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56" name="AutoShape 4"/>
          <p:cNvSpPr>
            <a:spLocks noChangeArrowheads="1"/>
          </p:cNvSpPr>
          <p:nvPr/>
        </p:nvSpPr>
        <p:spPr bwMode="gray">
          <a:xfrm>
            <a:off x="3857625" y="3765550"/>
            <a:ext cx="2058988" cy="346075"/>
          </a:xfrm>
          <a:prstGeom prst="rightArrow">
            <a:avLst>
              <a:gd name="adj1" fmla="val 50000"/>
              <a:gd name="adj2" fmla="val 148739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46275"/>
                  <a:invGamma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57" name="AutoShape 5"/>
          <p:cNvSpPr>
            <a:spLocks noChangeArrowheads="1"/>
          </p:cNvSpPr>
          <p:nvPr/>
        </p:nvSpPr>
        <p:spPr bwMode="gray">
          <a:xfrm>
            <a:off x="3857625" y="3270250"/>
            <a:ext cx="2058988" cy="346075"/>
          </a:xfrm>
          <a:prstGeom prst="rightArrow">
            <a:avLst>
              <a:gd name="adj1" fmla="val 50000"/>
              <a:gd name="adj2" fmla="val 148739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46275"/>
                  <a:invGamma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58" name="Rectangle 6"/>
          <p:cNvSpPr>
            <a:spLocks noChangeArrowheads="1"/>
          </p:cNvSpPr>
          <p:nvPr/>
        </p:nvSpPr>
        <p:spPr bwMode="gray">
          <a:xfrm>
            <a:off x="257175" y="2540000"/>
            <a:ext cx="2963863" cy="195897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8194" name="Rectangle 7" hidden="1"/>
          <p:cNvGraphicFramePr>
            <a:graphicFrameLocks/>
          </p:cNvGraphicFramePr>
          <p:nvPr/>
        </p:nvGraphicFramePr>
        <p:xfrm>
          <a:off x="0" y="0"/>
          <a:ext cx="158750" cy="158750"/>
        </p:xfrm>
        <a:graphic>
          <a:graphicData uri="http://schemas.openxmlformats.org/presentationml/2006/ole">
            <p:oleObj spid="_x0000_s33794" r:id="rId5" imgW="0" imgH="0" progId="">
              <p:embed/>
            </p:oleObj>
          </a:graphicData>
        </a:graphic>
      </p:graphicFrame>
      <p:sp>
        <p:nvSpPr>
          <p:cNvPr id="842761" name="AutoShape 9"/>
          <p:cNvSpPr>
            <a:spLocks noChangeArrowheads="1"/>
          </p:cNvSpPr>
          <p:nvPr/>
        </p:nvSpPr>
        <p:spPr bwMode="gray">
          <a:xfrm>
            <a:off x="463550" y="3048000"/>
            <a:ext cx="244475" cy="231775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62" name="AutoShape 10"/>
          <p:cNvSpPr>
            <a:spLocks noChangeArrowheads="1"/>
          </p:cNvSpPr>
          <p:nvPr/>
        </p:nvSpPr>
        <p:spPr bwMode="gray">
          <a:xfrm>
            <a:off x="708025" y="3048000"/>
            <a:ext cx="244475" cy="231775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63" name="AutoShape 11"/>
          <p:cNvSpPr>
            <a:spLocks noChangeArrowheads="1"/>
          </p:cNvSpPr>
          <p:nvPr/>
        </p:nvSpPr>
        <p:spPr bwMode="gray">
          <a:xfrm>
            <a:off x="952500" y="3048000"/>
            <a:ext cx="244475" cy="231775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64" name="AutoShape 12"/>
          <p:cNvSpPr>
            <a:spLocks noChangeArrowheads="1"/>
          </p:cNvSpPr>
          <p:nvPr/>
        </p:nvSpPr>
        <p:spPr bwMode="gray">
          <a:xfrm>
            <a:off x="1196975" y="3048000"/>
            <a:ext cx="244475" cy="231775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65" name="AutoShape 13"/>
          <p:cNvSpPr>
            <a:spLocks noChangeArrowheads="1"/>
          </p:cNvSpPr>
          <p:nvPr/>
        </p:nvSpPr>
        <p:spPr bwMode="gray">
          <a:xfrm>
            <a:off x="1441450" y="3048000"/>
            <a:ext cx="244475" cy="231775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66" name="AutoShape 14"/>
          <p:cNvSpPr>
            <a:spLocks noChangeArrowheads="1"/>
          </p:cNvSpPr>
          <p:nvPr/>
        </p:nvSpPr>
        <p:spPr bwMode="gray">
          <a:xfrm>
            <a:off x="463550" y="3279775"/>
            <a:ext cx="244475" cy="231775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67" name="AutoShape 15"/>
          <p:cNvSpPr>
            <a:spLocks noChangeArrowheads="1"/>
          </p:cNvSpPr>
          <p:nvPr/>
        </p:nvSpPr>
        <p:spPr bwMode="gray">
          <a:xfrm>
            <a:off x="708025" y="3279775"/>
            <a:ext cx="244475" cy="231775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68" name="AutoShape 16"/>
          <p:cNvSpPr>
            <a:spLocks noChangeArrowheads="1"/>
          </p:cNvSpPr>
          <p:nvPr/>
        </p:nvSpPr>
        <p:spPr bwMode="gray">
          <a:xfrm>
            <a:off x="952500" y="3279775"/>
            <a:ext cx="244475" cy="231775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69" name="AutoShape 17"/>
          <p:cNvSpPr>
            <a:spLocks noChangeArrowheads="1"/>
          </p:cNvSpPr>
          <p:nvPr/>
        </p:nvSpPr>
        <p:spPr bwMode="gray">
          <a:xfrm>
            <a:off x="1196975" y="3279775"/>
            <a:ext cx="244475" cy="231775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70" name="AutoShape 18"/>
          <p:cNvSpPr>
            <a:spLocks noChangeArrowheads="1"/>
          </p:cNvSpPr>
          <p:nvPr/>
        </p:nvSpPr>
        <p:spPr bwMode="gray">
          <a:xfrm>
            <a:off x="463550" y="3511550"/>
            <a:ext cx="244475" cy="231775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71" name="AutoShape 19"/>
          <p:cNvSpPr>
            <a:spLocks noChangeArrowheads="1"/>
          </p:cNvSpPr>
          <p:nvPr/>
        </p:nvSpPr>
        <p:spPr bwMode="gray">
          <a:xfrm>
            <a:off x="708025" y="3511550"/>
            <a:ext cx="244475" cy="231775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72" name="AutoShape 20"/>
          <p:cNvSpPr>
            <a:spLocks noChangeArrowheads="1"/>
          </p:cNvSpPr>
          <p:nvPr/>
        </p:nvSpPr>
        <p:spPr bwMode="gray">
          <a:xfrm>
            <a:off x="952500" y="3511550"/>
            <a:ext cx="244475" cy="231775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73" name="AutoShape 21"/>
          <p:cNvSpPr>
            <a:spLocks noChangeArrowheads="1"/>
          </p:cNvSpPr>
          <p:nvPr/>
        </p:nvSpPr>
        <p:spPr bwMode="gray">
          <a:xfrm>
            <a:off x="463550" y="3743325"/>
            <a:ext cx="244475" cy="231775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74" name="AutoShape 22"/>
          <p:cNvSpPr>
            <a:spLocks noChangeArrowheads="1"/>
          </p:cNvSpPr>
          <p:nvPr/>
        </p:nvSpPr>
        <p:spPr bwMode="gray">
          <a:xfrm>
            <a:off x="708025" y="3743325"/>
            <a:ext cx="244475" cy="231775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775" name="AutoShape 23"/>
          <p:cNvSpPr>
            <a:spLocks noChangeArrowheads="1"/>
          </p:cNvSpPr>
          <p:nvPr/>
        </p:nvSpPr>
        <p:spPr bwMode="gray">
          <a:xfrm>
            <a:off x="463550" y="3975100"/>
            <a:ext cx="244475" cy="231775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216" name="Text Box 24"/>
          <p:cNvSpPr txBox="1">
            <a:spLocks noChangeArrowheads="1"/>
          </p:cNvSpPr>
          <p:nvPr/>
        </p:nvSpPr>
        <p:spPr bwMode="gray">
          <a:xfrm>
            <a:off x="638175" y="2868613"/>
            <a:ext cx="781050" cy="136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sz="1000" b="1">
                <a:latin typeface="Arial" charset="0"/>
              </a:rPr>
              <a:t>User Ratings</a:t>
            </a:r>
          </a:p>
        </p:txBody>
      </p:sp>
      <p:sp>
        <p:nvSpPr>
          <p:cNvPr id="8217" name="Text Box 25"/>
          <p:cNvSpPr txBox="1">
            <a:spLocks noChangeArrowheads="1"/>
          </p:cNvSpPr>
          <p:nvPr/>
        </p:nvSpPr>
        <p:spPr bwMode="gray">
          <a:xfrm>
            <a:off x="709613" y="2687638"/>
            <a:ext cx="646112" cy="136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sz="1000" b="1">
                <a:latin typeface="Arial" charset="0"/>
              </a:rPr>
              <a:t>100 Million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916113" y="3098800"/>
            <a:ext cx="461962" cy="412750"/>
            <a:chOff x="1525" y="1344"/>
            <a:chExt cx="291" cy="260"/>
          </a:xfrm>
        </p:grpSpPr>
        <p:sp>
          <p:nvSpPr>
            <p:cNvPr id="8300" name="Oval 27"/>
            <p:cNvSpPr>
              <a:spLocks noChangeArrowheads="1"/>
            </p:cNvSpPr>
            <p:nvPr/>
          </p:nvSpPr>
          <p:spPr bwMode="gray">
            <a:xfrm>
              <a:off x="1525" y="1344"/>
              <a:ext cx="291" cy="26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en-US"/>
            </a:p>
          </p:txBody>
        </p:sp>
        <p:sp>
          <p:nvSpPr>
            <p:cNvPr id="8301" name="Oval 28"/>
            <p:cNvSpPr>
              <a:spLocks noChangeArrowheads="1"/>
            </p:cNvSpPr>
            <p:nvPr/>
          </p:nvSpPr>
          <p:spPr bwMode="gray">
            <a:xfrm>
              <a:off x="1634" y="1442"/>
              <a:ext cx="72" cy="6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en-US"/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1993900" y="3173413"/>
            <a:ext cx="461963" cy="412750"/>
            <a:chOff x="1525" y="1344"/>
            <a:chExt cx="291" cy="260"/>
          </a:xfrm>
        </p:grpSpPr>
        <p:sp>
          <p:nvSpPr>
            <p:cNvPr id="8298" name="Oval 30"/>
            <p:cNvSpPr>
              <a:spLocks noChangeArrowheads="1"/>
            </p:cNvSpPr>
            <p:nvPr/>
          </p:nvSpPr>
          <p:spPr bwMode="gray">
            <a:xfrm>
              <a:off x="1525" y="1344"/>
              <a:ext cx="291" cy="26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en-US"/>
            </a:p>
          </p:txBody>
        </p:sp>
        <p:sp>
          <p:nvSpPr>
            <p:cNvPr id="8299" name="Oval 31"/>
            <p:cNvSpPr>
              <a:spLocks noChangeArrowheads="1"/>
            </p:cNvSpPr>
            <p:nvPr/>
          </p:nvSpPr>
          <p:spPr bwMode="gray">
            <a:xfrm>
              <a:off x="1634" y="1442"/>
              <a:ext cx="72" cy="6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eaLnBrk="1" hangingPunct="1">
                <a:lnSpc>
                  <a:spcPct val="90000"/>
                </a:lnSpc>
                <a:spcBef>
                  <a:spcPct val="0"/>
                </a:spcBef>
              </a:pPr>
              <a:endParaRPr lang="en-US" sz="3400" b="1">
                <a:latin typeface="Arial" charset="0"/>
              </a:endParaRPr>
            </a:p>
          </p:txBody>
        </p:sp>
      </p:grp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1916113" y="3586163"/>
            <a:ext cx="461962" cy="412750"/>
            <a:chOff x="1525" y="1344"/>
            <a:chExt cx="291" cy="260"/>
          </a:xfrm>
        </p:grpSpPr>
        <p:sp>
          <p:nvSpPr>
            <p:cNvPr id="8296" name="Oval 33"/>
            <p:cNvSpPr>
              <a:spLocks noChangeArrowheads="1"/>
            </p:cNvSpPr>
            <p:nvPr/>
          </p:nvSpPr>
          <p:spPr bwMode="gray">
            <a:xfrm>
              <a:off x="1525" y="1344"/>
              <a:ext cx="291" cy="26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en-US"/>
            </a:p>
          </p:txBody>
        </p:sp>
        <p:sp>
          <p:nvSpPr>
            <p:cNvPr id="8297" name="Oval 34"/>
            <p:cNvSpPr>
              <a:spLocks noChangeArrowheads="1"/>
            </p:cNvSpPr>
            <p:nvPr/>
          </p:nvSpPr>
          <p:spPr bwMode="gray">
            <a:xfrm>
              <a:off x="1634" y="1442"/>
              <a:ext cx="72" cy="6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en-US"/>
            </a:p>
          </p:txBody>
        </p:sp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1993900" y="3660775"/>
            <a:ext cx="461963" cy="412750"/>
            <a:chOff x="1525" y="1344"/>
            <a:chExt cx="291" cy="260"/>
          </a:xfrm>
        </p:grpSpPr>
        <p:sp>
          <p:nvSpPr>
            <p:cNvPr id="8294" name="Oval 36"/>
            <p:cNvSpPr>
              <a:spLocks noChangeArrowheads="1"/>
            </p:cNvSpPr>
            <p:nvPr/>
          </p:nvSpPr>
          <p:spPr bwMode="gray">
            <a:xfrm>
              <a:off x="1525" y="1344"/>
              <a:ext cx="291" cy="26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en-US"/>
            </a:p>
          </p:txBody>
        </p:sp>
        <p:sp>
          <p:nvSpPr>
            <p:cNvPr id="8295" name="Oval 37"/>
            <p:cNvSpPr>
              <a:spLocks noChangeArrowheads="1"/>
            </p:cNvSpPr>
            <p:nvPr/>
          </p:nvSpPr>
          <p:spPr bwMode="gray">
            <a:xfrm>
              <a:off x="1634" y="1442"/>
              <a:ext cx="72" cy="6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eaLnBrk="1" hangingPunct="1">
                <a:lnSpc>
                  <a:spcPct val="90000"/>
                </a:lnSpc>
                <a:spcBef>
                  <a:spcPct val="0"/>
                </a:spcBef>
              </a:pPr>
              <a:endParaRPr lang="en-US" sz="3400" b="1">
                <a:latin typeface="Arial" charset="0"/>
              </a:endParaRPr>
            </a:p>
          </p:txBody>
        </p:sp>
      </p:grpSp>
      <p:grpSp>
        <p:nvGrpSpPr>
          <p:cNvPr id="6" name="Group 38"/>
          <p:cNvGrpSpPr>
            <a:grpSpLocks/>
          </p:cNvGrpSpPr>
          <p:nvPr/>
        </p:nvGrpSpPr>
        <p:grpSpPr bwMode="auto">
          <a:xfrm>
            <a:off x="2455863" y="3098800"/>
            <a:ext cx="461962" cy="412750"/>
            <a:chOff x="1525" y="1344"/>
            <a:chExt cx="291" cy="260"/>
          </a:xfrm>
        </p:grpSpPr>
        <p:sp>
          <p:nvSpPr>
            <p:cNvPr id="8292" name="Oval 39"/>
            <p:cNvSpPr>
              <a:spLocks noChangeArrowheads="1"/>
            </p:cNvSpPr>
            <p:nvPr/>
          </p:nvSpPr>
          <p:spPr bwMode="gray">
            <a:xfrm>
              <a:off x="1525" y="1344"/>
              <a:ext cx="291" cy="26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en-US"/>
            </a:p>
          </p:txBody>
        </p:sp>
        <p:sp>
          <p:nvSpPr>
            <p:cNvPr id="8293" name="Oval 40"/>
            <p:cNvSpPr>
              <a:spLocks noChangeArrowheads="1"/>
            </p:cNvSpPr>
            <p:nvPr/>
          </p:nvSpPr>
          <p:spPr bwMode="gray">
            <a:xfrm>
              <a:off x="1634" y="1442"/>
              <a:ext cx="72" cy="6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en-US"/>
            </a:p>
          </p:txBody>
        </p:sp>
      </p:grp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2533650" y="3173413"/>
            <a:ext cx="461963" cy="412750"/>
            <a:chOff x="1525" y="1344"/>
            <a:chExt cx="291" cy="260"/>
          </a:xfrm>
        </p:grpSpPr>
        <p:sp>
          <p:nvSpPr>
            <p:cNvPr id="8290" name="Oval 42"/>
            <p:cNvSpPr>
              <a:spLocks noChangeArrowheads="1"/>
            </p:cNvSpPr>
            <p:nvPr/>
          </p:nvSpPr>
          <p:spPr bwMode="gray">
            <a:xfrm>
              <a:off x="1525" y="1344"/>
              <a:ext cx="291" cy="26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en-US"/>
            </a:p>
          </p:txBody>
        </p:sp>
        <p:sp>
          <p:nvSpPr>
            <p:cNvPr id="8291" name="Oval 43"/>
            <p:cNvSpPr>
              <a:spLocks noChangeArrowheads="1"/>
            </p:cNvSpPr>
            <p:nvPr/>
          </p:nvSpPr>
          <p:spPr bwMode="gray">
            <a:xfrm>
              <a:off x="1634" y="1442"/>
              <a:ext cx="72" cy="6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eaLnBrk="1" hangingPunct="1">
                <a:lnSpc>
                  <a:spcPct val="90000"/>
                </a:lnSpc>
                <a:spcBef>
                  <a:spcPct val="0"/>
                </a:spcBef>
              </a:pPr>
              <a:endParaRPr lang="en-US" sz="3400" b="1">
                <a:latin typeface="Arial" charset="0"/>
              </a:endParaRPr>
            </a:p>
          </p:txBody>
        </p:sp>
      </p:grp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2455863" y="3586163"/>
            <a:ext cx="461962" cy="412750"/>
            <a:chOff x="1525" y="1344"/>
            <a:chExt cx="291" cy="260"/>
          </a:xfrm>
        </p:grpSpPr>
        <p:sp>
          <p:nvSpPr>
            <p:cNvPr id="8288" name="Oval 45"/>
            <p:cNvSpPr>
              <a:spLocks noChangeArrowheads="1"/>
            </p:cNvSpPr>
            <p:nvPr/>
          </p:nvSpPr>
          <p:spPr bwMode="gray">
            <a:xfrm>
              <a:off x="1525" y="1344"/>
              <a:ext cx="291" cy="26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en-US"/>
            </a:p>
          </p:txBody>
        </p:sp>
        <p:sp>
          <p:nvSpPr>
            <p:cNvPr id="8289" name="Oval 46"/>
            <p:cNvSpPr>
              <a:spLocks noChangeArrowheads="1"/>
            </p:cNvSpPr>
            <p:nvPr/>
          </p:nvSpPr>
          <p:spPr bwMode="gray">
            <a:xfrm>
              <a:off x="1634" y="1442"/>
              <a:ext cx="72" cy="6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en-US"/>
            </a:p>
          </p:txBody>
        </p:sp>
      </p:grpSp>
      <p:grpSp>
        <p:nvGrpSpPr>
          <p:cNvPr id="9" name="Group 47"/>
          <p:cNvGrpSpPr>
            <a:grpSpLocks/>
          </p:cNvGrpSpPr>
          <p:nvPr/>
        </p:nvGrpSpPr>
        <p:grpSpPr bwMode="auto">
          <a:xfrm>
            <a:off x="2533650" y="3660775"/>
            <a:ext cx="461963" cy="412750"/>
            <a:chOff x="1525" y="1344"/>
            <a:chExt cx="291" cy="260"/>
          </a:xfrm>
        </p:grpSpPr>
        <p:sp>
          <p:nvSpPr>
            <p:cNvPr id="8286" name="Oval 48"/>
            <p:cNvSpPr>
              <a:spLocks noChangeArrowheads="1"/>
            </p:cNvSpPr>
            <p:nvPr/>
          </p:nvSpPr>
          <p:spPr bwMode="gray">
            <a:xfrm>
              <a:off x="1525" y="1344"/>
              <a:ext cx="291" cy="26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en-US"/>
            </a:p>
          </p:txBody>
        </p:sp>
        <p:sp>
          <p:nvSpPr>
            <p:cNvPr id="8287" name="Oval 49"/>
            <p:cNvSpPr>
              <a:spLocks noChangeArrowheads="1"/>
            </p:cNvSpPr>
            <p:nvPr/>
          </p:nvSpPr>
          <p:spPr bwMode="gray">
            <a:xfrm>
              <a:off x="1634" y="1442"/>
              <a:ext cx="72" cy="6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eaLnBrk="1" hangingPunct="1">
                <a:lnSpc>
                  <a:spcPct val="90000"/>
                </a:lnSpc>
                <a:spcBef>
                  <a:spcPct val="0"/>
                </a:spcBef>
              </a:pPr>
              <a:endParaRPr lang="en-US" sz="3400" b="1">
                <a:latin typeface="Arial" charset="0"/>
              </a:endParaRPr>
            </a:p>
          </p:txBody>
        </p:sp>
      </p:grpSp>
      <p:sp>
        <p:nvSpPr>
          <p:cNvPr id="8226" name="Text Box 50"/>
          <p:cNvSpPr txBox="1">
            <a:spLocks noChangeArrowheads="1"/>
          </p:cNvSpPr>
          <p:nvPr/>
        </p:nvSpPr>
        <p:spPr bwMode="gray">
          <a:xfrm>
            <a:off x="2238375" y="2732088"/>
            <a:ext cx="428625" cy="273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sz="1000" b="1">
                <a:latin typeface="Arial" charset="0"/>
              </a:rPr>
              <a:t>18,000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sz="1000" b="1">
                <a:latin typeface="Arial" charset="0"/>
              </a:rPr>
              <a:t>Movies</a:t>
            </a:r>
          </a:p>
        </p:txBody>
      </p:sp>
      <p:sp>
        <p:nvSpPr>
          <p:cNvPr id="8227" name="Text Box 51"/>
          <p:cNvSpPr txBox="1">
            <a:spLocks noChangeArrowheads="1"/>
          </p:cNvSpPr>
          <p:nvPr/>
        </p:nvSpPr>
        <p:spPr bwMode="gray">
          <a:xfrm>
            <a:off x="1239838" y="2278063"/>
            <a:ext cx="733425" cy="220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sz="1600" b="1">
                <a:latin typeface="Arial" charset="0"/>
              </a:rPr>
              <a:t>Dataset</a:t>
            </a:r>
          </a:p>
        </p:txBody>
      </p:sp>
      <p:pic>
        <p:nvPicPr>
          <p:cNvPr id="8228" name="Picture 52" descr="MCj04316400000[1]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562350" y="3098800"/>
            <a:ext cx="269875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2805" name="AutoShape 53"/>
          <p:cNvSpPr>
            <a:spLocks noChangeArrowheads="1"/>
          </p:cNvSpPr>
          <p:nvPr/>
        </p:nvSpPr>
        <p:spPr bwMode="gray">
          <a:xfrm rot="5400000">
            <a:off x="2712244" y="3450431"/>
            <a:ext cx="1333500" cy="173038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grpSp>
        <p:nvGrpSpPr>
          <p:cNvPr id="10" name="Group 54"/>
          <p:cNvGrpSpPr>
            <a:grpSpLocks/>
          </p:cNvGrpSpPr>
          <p:nvPr/>
        </p:nvGrpSpPr>
        <p:grpSpPr bwMode="auto">
          <a:xfrm>
            <a:off x="4029075" y="2606675"/>
            <a:ext cx="461963" cy="412750"/>
            <a:chOff x="1525" y="1344"/>
            <a:chExt cx="291" cy="260"/>
          </a:xfrm>
        </p:grpSpPr>
        <p:sp>
          <p:nvSpPr>
            <p:cNvPr id="842807" name="Oval 55"/>
            <p:cNvSpPr>
              <a:spLocks noChangeArrowheads="1"/>
            </p:cNvSpPr>
            <p:nvPr/>
          </p:nvSpPr>
          <p:spPr bwMode="gray">
            <a:xfrm>
              <a:off x="1525" y="1344"/>
              <a:ext cx="291" cy="260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285" name="Oval 56"/>
            <p:cNvSpPr>
              <a:spLocks noChangeArrowheads="1"/>
            </p:cNvSpPr>
            <p:nvPr/>
          </p:nvSpPr>
          <p:spPr bwMode="gray">
            <a:xfrm>
              <a:off x="1634" y="1442"/>
              <a:ext cx="72" cy="6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eaLnBrk="1" hangingPunct="1">
                <a:lnSpc>
                  <a:spcPct val="90000"/>
                </a:lnSpc>
                <a:spcBef>
                  <a:spcPct val="0"/>
                </a:spcBef>
              </a:pPr>
              <a:endParaRPr lang="en-US" sz="3400" b="1">
                <a:latin typeface="Arial" charset="0"/>
              </a:endParaRPr>
            </a:p>
          </p:txBody>
        </p:sp>
      </p:grpSp>
      <p:sp>
        <p:nvSpPr>
          <p:cNvPr id="8231" name="Text Box 57"/>
          <p:cNvSpPr txBox="1">
            <a:spLocks noChangeArrowheads="1"/>
          </p:cNvSpPr>
          <p:nvPr/>
        </p:nvSpPr>
        <p:spPr bwMode="gray">
          <a:xfrm>
            <a:off x="3998913" y="2278063"/>
            <a:ext cx="1817687" cy="220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sz="1600" b="1">
                <a:latin typeface="Arial" charset="0"/>
              </a:rPr>
              <a:t>Correlation Engine</a:t>
            </a:r>
          </a:p>
        </p:txBody>
      </p:sp>
      <p:grpSp>
        <p:nvGrpSpPr>
          <p:cNvPr id="11" name="Group 58"/>
          <p:cNvGrpSpPr>
            <a:grpSpLocks/>
          </p:cNvGrpSpPr>
          <p:nvPr/>
        </p:nvGrpSpPr>
        <p:grpSpPr bwMode="auto">
          <a:xfrm>
            <a:off x="4762500" y="2606675"/>
            <a:ext cx="461963" cy="412750"/>
            <a:chOff x="1525" y="1344"/>
            <a:chExt cx="291" cy="260"/>
          </a:xfrm>
        </p:grpSpPr>
        <p:sp>
          <p:nvSpPr>
            <p:cNvPr id="8282" name="Oval 59"/>
            <p:cNvSpPr>
              <a:spLocks noChangeArrowheads="1"/>
            </p:cNvSpPr>
            <p:nvPr/>
          </p:nvSpPr>
          <p:spPr bwMode="gray">
            <a:xfrm>
              <a:off x="1525" y="1344"/>
              <a:ext cx="291" cy="260"/>
            </a:xfrm>
            <a:prstGeom prst="ellipse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en-US"/>
            </a:p>
          </p:txBody>
        </p:sp>
        <p:sp>
          <p:nvSpPr>
            <p:cNvPr id="8283" name="Oval 60"/>
            <p:cNvSpPr>
              <a:spLocks noChangeArrowheads="1"/>
            </p:cNvSpPr>
            <p:nvPr/>
          </p:nvSpPr>
          <p:spPr bwMode="gray">
            <a:xfrm>
              <a:off x="1634" y="1442"/>
              <a:ext cx="72" cy="6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eaLnBrk="1" hangingPunct="1">
                <a:lnSpc>
                  <a:spcPct val="90000"/>
                </a:lnSpc>
                <a:spcBef>
                  <a:spcPct val="0"/>
                </a:spcBef>
              </a:pPr>
              <a:endParaRPr lang="en-US" sz="3400" b="1">
                <a:latin typeface="Arial" charset="0"/>
              </a:endParaRPr>
            </a:p>
          </p:txBody>
        </p:sp>
      </p:grpSp>
      <p:sp>
        <p:nvSpPr>
          <p:cNvPr id="8233" name="Text Box 61"/>
          <p:cNvSpPr txBox="1">
            <a:spLocks noChangeArrowheads="1"/>
          </p:cNvSpPr>
          <p:nvPr/>
        </p:nvSpPr>
        <p:spPr bwMode="gray">
          <a:xfrm>
            <a:off x="4546600" y="2763838"/>
            <a:ext cx="174625" cy="136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sz="1000" b="1">
                <a:latin typeface="Arial" charset="0"/>
              </a:rPr>
              <a:t>vs.</a:t>
            </a:r>
          </a:p>
        </p:txBody>
      </p:sp>
      <p:pic>
        <p:nvPicPr>
          <p:cNvPr id="8234" name="Picture 62" descr="MCj04316400000[1]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562350" y="3562350"/>
            <a:ext cx="269875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35" name="Picture 63" descr="MCj04316400000[1]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562350" y="4025900"/>
            <a:ext cx="269875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36" name="Picture 64" descr="MCj04316400000[1]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717925" y="3794125"/>
            <a:ext cx="269875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37" name="Picture 65" descr="MCj04316400000[1]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717925" y="3330575"/>
            <a:ext cx="269875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2818" name="AutoShape 66"/>
          <p:cNvSpPr>
            <a:spLocks noChangeArrowheads="1"/>
          </p:cNvSpPr>
          <p:nvPr/>
        </p:nvSpPr>
        <p:spPr bwMode="gray">
          <a:xfrm>
            <a:off x="4029075" y="3125788"/>
            <a:ext cx="100013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19" name="AutoShape 67"/>
          <p:cNvSpPr>
            <a:spLocks noChangeArrowheads="1"/>
          </p:cNvSpPr>
          <p:nvPr/>
        </p:nvSpPr>
        <p:spPr bwMode="gray">
          <a:xfrm>
            <a:off x="4129088" y="3125788"/>
            <a:ext cx="101600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20" name="AutoShape 68"/>
          <p:cNvSpPr>
            <a:spLocks noChangeArrowheads="1"/>
          </p:cNvSpPr>
          <p:nvPr/>
        </p:nvSpPr>
        <p:spPr bwMode="gray">
          <a:xfrm>
            <a:off x="4230688" y="3125788"/>
            <a:ext cx="100012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21" name="AutoShape 69"/>
          <p:cNvSpPr>
            <a:spLocks noChangeArrowheads="1"/>
          </p:cNvSpPr>
          <p:nvPr/>
        </p:nvSpPr>
        <p:spPr bwMode="gray">
          <a:xfrm>
            <a:off x="4029075" y="3617913"/>
            <a:ext cx="100013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22" name="AutoShape 70"/>
          <p:cNvSpPr>
            <a:spLocks noChangeArrowheads="1"/>
          </p:cNvSpPr>
          <p:nvPr/>
        </p:nvSpPr>
        <p:spPr bwMode="gray">
          <a:xfrm>
            <a:off x="4129088" y="3617913"/>
            <a:ext cx="101600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23" name="AutoShape 71"/>
          <p:cNvSpPr>
            <a:spLocks noChangeArrowheads="1"/>
          </p:cNvSpPr>
          <p:nvPr/>
        </p:nvSpPr>
        <p:spPr bwMode="gray">
          <a:xfrm>
            <a:off x="4029075" y="4111625"/>
            <a:ext cx="100013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24" name="AutoShape 72"/>
          <p:cNvSpPr>
            <a:spLocks noChangeArrowheads="1"/>
          </p:cNvSpPr>
          <p:nvPr/>
        </p:nvSpPr>
        <p:spPr bwMode="gray">
          <a:xfrm>
            <a:off x="4029075" y="3871913"/>
            <a:ext cx="100013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25" name="AutoShape 73"/>
          <p:cNvSpPr>
            <a:spLocks noChangeArrowheads="1"/>
          </p:cNvSpPr>
          <p:nvPr/>
        </p:nvSpPr>
        <p:spPr bwMode="gray">
          <a:xfrm>
            <a:off x="4129088" y="3871913"/>
            <a:ext cx="101600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26" name="AutoShape 74"/>
          <p:cNvSpPr>
            <a:spLocks noChangeArrowheads="1"/>
          </p:cNvSpPr>
          <p:nvPr/>
        </p:nvSpPr>
        <p:spPr bwMode="gray">
          <a:xfrm>
            <a:off x="4230688" y="3871913"/>
            <a:ext cx="100012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27" name="AutoShape 75"/>
          <p:cNvSpPr>
            <a:spLocks noChangeArrowheads="1"/>
          </p:cNvSpPr>
          <p:nvPr/>
        </p:nvSpPr>
        <p:spPr bwMode="gray">
          <a:xfrm>
            <a:off x="4029075" y="3384550"/>
            <a:ext cx="100013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28" name="AutoShape 76"/>
          <p:cNvSpPr>
            <a:spLocks noChangeArrowheads="1"/>
          </p:cNvSpPr>
          <p:nvPr/>
        </p:nvSpPr>
        <p:spPr bwMode="gray">
          <a:xfrm>
            <a:off x="4129088" y="3384550"/>
            <a:ext cx="101600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29" name="AutoShape 77"/>
          <p:cNvSpPr>
            <a:spLocks noChangeArrowheads="1"/>
          </p:cNvSpPr>
          <p:nvPr/>
        </p:nvSpPr>
        <p:spPr bwMode="gray">
          <a:xfrm>
            <a:off x="4230688" y="3384550"/>
            <a:ext cx="100012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30" name="AutoShape 78"/>
          <p:cNvSpPr>
            <a:spLocks noChangeArrowheads="1"/>
          </p:cNvSpPr>
          <p:nvPr/>
        </p:nvSpPr>
        <p:spPr bwMode="gray">
          <a:xfrm>
            <a:off x="4683125" y="3125788"/>
            <a:ext cx="100013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31" name="AutoShape 79"/>
          <p:cNvSpPr>
            <a:spLocks noChangeArrowheads="1"/>
          </p:cNvSpPr>
          <p:nvPr/>
        </p:nvSpPr>
        <p:spPr bwMode="gray">
          <a:xfrm>
            <a:off x="4783138" y="3125788"/>
            <a:ext cx="101600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32" name="AutoShape 80"/>
          <p:cNvSpPr>
            <a:spLocks noChangeArrowheads="1"/>
          </p:cNvSpPr>
          <p:nvPr/>
        </p:nvSpPr>
        <p:spPr bwMode="gray">
          <a:xfrm>
            <a:off x="4884738" y="3125788"/>
            <a:ext cx="100012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33" name="AutoShape 81"/>
          <p:cNvSpPr>
            <a:spLocks noChangeArrowheads="1"/>
          </p:cNvSpPr>
          <p:nvPr/>
        </p:nvSpPr>
        <p:spPr bwMode="gray">
          <a:xfrm>
            <a:off x="4984750" y="3125788"/>
            <a:ext cx="101600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34" name="AutoShape 82"/>
          <p:cNvSpPr>
            <a:spLocks noChangeArrowheads="1"/>
          </p:cNvSpPr>
          <p:nvPr/>
        </p:nvSpPr>
        <p:spPr bwMode="gray">
          <a:xfrm>
            <a:off x="5086350" y="3125788"/>
            <a:ext cx="100013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35" name="AutoShape 83"/>
          <p:cNvSpPr>
            <a:spLocks noChangeArrowheads="1"/>
          </p:cNvSpPr>
          <p:nvPr/>
        </p:nvSpPr>
        <p:spPr bwMode="gray">
          <a:xfrm>
            <a:off x="4683125" y="3617913"/>
            <a:ext cx="100013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36" name="AutoShape 84"/>
          <p:cNvSpPr>
            <a:spLocks noChangeArrowheads="1"/>
          </p:cNvSpPr>
          <p:nvPr/>
        </p:nvSpPr>
        <p:spPr bwMode="gray">
          <a:xfrm>
            <a:off x="4783138" y="3617913"/>
            <a:ext cx="101600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37" name="AutoShape 85"/>
          <p:cNvSpPr>
            <a:spLocks noChangeArrowheads="1"/>
          </p:cNvSpPr>
          <p:nvPr/>
        </p:nvSpPr>
        <p:spPr bwMode="gray">
          <a:xfrm>
            <a:off x="4884738" y="3617913"/>
            <a:ext cx="100012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38" name="AutoShape 86"/>
          <p:cNvSpPr>
            <a:spLocks noChangeArrowheads="1"/>
          </p:cNvSpPr>
          <p:nvPr/>
        </p:nvSpPr>
        <p:spPr bwMode="gray">
          <a:xfrm>
            <a:off x="4683125" y="4111625"/>
            <a:ext cx="100013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39" name="AutoShape 87"/>
          <p:cNvSpPr>
            <a:spLocks noChangeArrowheads="1"/>
          </p:cNvSpPr>
          <p:nvPr/>
        </p:nvSpPr>
        <p:spPr bwMode="gray">
          <a:xfrm>
            <a:off x="4683125" y="3871913"/>
            <a:ext cx="100013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40" name="AutoShape 88"/>
          <p:cNvSpPr>
            <a:spLocks noChangeArrowheads="1"/>
          </p:cNvSpPr>
          <p:nvPr/>
        </p:nvSpPr>
        <p:spPr bwMode="gray">
          <a:xfrm>
            <a:off x="4683125" y="3384550"/>
            <a:ext cx="100013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41" name="AutoShape 89"/>
          <p:cNvSpPr>
            <a:spLocks noChangeArrowheads="1"/>
          </p:cNvSpPr>
          <p:nvPr/>
        </p:nvSpPr>
        <p:spPr bwMode="gray">
          <a:xfrm>
            <a:off x="4337050" y="3871913"/>
            <a:ext cx="101600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42" name="AutoShape 90"/>
          <p:cNvSpPr>
            <a:spLocks noChangeArrowheads="1"/>
          </p:cNvSpPr>
          <p:nvPr/>
        </p:nvSpPr>
        <p:spPr bwMode="gray">
          <a:xfrm>
            <a:off x="4438650" y="3871913"/>
            <a:ext cx="100013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43" name="AutoShape 91"/>
          <p:cNvSpPr>
            <a:spLocks noChangeArrowheads="1"/>
          </p:cNvSpPr>
          <p:nvPr/>
        </p:nvSpPr>
        <p:spPr bwMode="gray">
          <a:xfrm>
            <a:off x="4337050" y="3384550"/>
            <a:ext cx="101600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44" name="AutoShape 92"/>
          <p:cNvSpPr>
            <a:spLocks noChangeArrowheads="1"/>
          </p:cNvSpPr>
          <p:nvPr/>
        </p:nvSpPr>
        <p:spPr bwMode="gray">
          <a:xfrm>
            <a:off x="4438650" y="3384550"/>
            <a:ext cx="100013" cy="95250"/>
          </a:xfrm>
          <a:prstGeom prst="star5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42845" name="Rectangle 93"/>
          <p:cNvSpPr>
            <a:spLocks noChangeArrowheads="1"/>
          </p:cNvSpPr>
          <p:nvPr/>
        </p:nvSpPr>
        <p:spPr bwMode="gray">
          <a:xfrm>
            <a:off x="5389563" y="3260725"/>
            <a:ext cx="1039812" cy="8763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46275"/>
                  <a:invGamma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0" tIns="0" rIns="0" bIns="0" anchor="ctr"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200" b="1">
                <a:latin typeface="Arial" charset="0"/>
              </a:rPr>
              <a:t>High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200" b="1">
                <a:latin typeface="Arial" charset="0"/>
              </a:rPr>
              <a:t>Correlation</a:t>
            </a:r>
          </a:p>
        </p:txBody>
      </p:sp>
      <p:pic>
        <p:nvPicPr>
          <p:cNvPr id="8266" name="Picture 94" descr="MCj04316400000[1]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962775" y="2640013"/>
            <a:ext cx="4921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67" name="Freeform 95"/>
          <p:cNvSpPr>
            <a:spLocks/>
          </p:cNvSpPr>
          <p:nvPr/>
        </p:nvSpPr>
        <p:spPr bwMode="auto">
          <a:xfrm>
            <a:off x="7521575" y="2732088"/>
            <a:ext cx="1447800" cy="860425"/>
          </a:xfrm>
          <a:custGeom>
            <a:avLst/>
            <a:gdLst>
              <a:gd name="T0" fmla="*/ 785494 w 1093"/>
              <a:gd name="T1" fmla="*/ 611180 h 649"/>
              <a:gd name="T2" fmla="*/ 769599 w 1093"/>
              <a:gd name="T3" fmla="*/ 560801 h 649"/>
              <a:gd name="T4" fmla="*/ 745756 w 1093"/>
              <a:gd name="T5" fmla="*/ 513073 h 649"/>
              <a:gd name="T6" fmla="*/ 717939 w 1093"/>
              <a:gd name="T7" fmla="*/ 469323 h 649"/>
              <a:gd name="T8" fmla="*/ 683499 w 1093"/>
              <a:gd name="T9" fmla="*/ 430875 h 649"/>
              <a:gd name="T10" fmla="*/ 645086 w 1093"/>
              <a:gd name="T11" fmla="*/ 396405 h 649"/>
              <a:gd name="T12" fmla="*/ 601373 w 1093"/>
              <a:gd name="T13" fmla="*/ 365913 h 649"/>
              <a:gd name="T14" fmla="*/ 555012 w 1093"/>
              <a:gd name="T15" fmla="*/ 342049 h 649"/>
              <a:gd name="T16" fmla="*/ 504677 w 1093"/>
              <a:gd name="T17" fmla="*/ 324814 h 649"/>
              <a:gd name="T18" fmla="*/ 451692 w 1093"/>
              <a:gd name="T19" fmla="*/ 314208 h 649"/>
              <a:gd name="T20" fmla="*/ 397383 w 1093"/>
              <a:gd name="T21" fmla="*/ 310230 h 649"/>
              <a:gd name="T22" fmla="*/ 339100 w 1093"/>
              <a:gd name="T23" fmla="*/ 314208 h 649"/>
              <a:gd name="T24" fmla="*/ 283467 w 1093"/>
              <a:gd name="T25" fmla="*/ 327465 h 649"/>
              <a:gd name="T26" fmla="*/ 230482 w 1093"/>
              <a:gd name="T27" fmla="*/ 347352 h 649"/>
              <a:gd name="T28" fmla="*/ 181472 w 1093"/>
              <a:gd name="T29" fmla="*/ 373867 h 649"/>
              <a:gd name="T30" fmla="*/ 137760 w 1093"/>
              <a:gd name="T31" fmla="*/ 407012 h 649"/>
              <a:gd name="T32" fmla="*/ 98021 w 1093"/>
              <a:gd name="T33" fmla="*/ 445459 h 649"/>
              <a:gd name="T34" fmla="*/ 64906 w 1093"/>
              <a:gd name="T35" fmla="*/ 489209 h 649"/>
              <a:gd name="T36" fmla="*/ 37089 w 1093"/>
              <a:gd name="T37" fmla="*/ 536937 h 649"/>
              <a:gd name="T38" fmla="*/ 17220 w 1093"/>
              <a:gd name="T39" fmla="*/ 589968 h 649"/>
              <a:gd name="T40" fmla="*/ 3974 w 1093"/>
              <a:gd name="T41" fmla="*/ 645650 h 649"/>
              <a:gd name="T42" fmla="*/ 3974 w 1093"/>
              <a:gd name="T43" fmla="*/ 646976 h 649"/>
              <a:gd name="T44" fmla="*/ 19869 w 1093"/>
              <a:gd name="T45" fmla="*/ 547543 h 649"/>
              <a:gd name="T46" fmla="*/ 47686 w 1093"/>
              <a:gd name="T47" fmla="*/ 452088 h 649"/>
              <a:gd name="T48" fmla="*/ 87424 w 1093"/>
              <a:gd name="T49" fmla="*/ 364587 h 649"/>
              <a:gd name="T50" fmla="*/ 136435 w 1093"/>
              <a:gd name="T51" fmla="*/ 282389 h 649"/>
              <a:gd name="T52" fmla="*/ 194718 w 1093"/>
              <a:gd name="T53" fmla="*/ 209472 h 649"/>
              <a:gd name="T54" fmla="*/ 262273 w 1093"/>
              <a:gd name="T55" fmla="*/ 145835 h 649"/>
              <a:gd name="T56" fmla="*/ 337776 w 1093"/>
              <a:gd name="T57" fmla="*/ 92804 h 649"/>
              <a:gd name="T58" fmla="*/ 418577 w 1093"/>
              <a:gd name="T59" fmla="*/ 50379 h 649"/>
              <a:gd name="T60" fmla="*/ 506001 w 1093"/>
              <a:gd name="T61" fmla="*/ 19887 h 649"/>
              <a:gd name="T62" fmla="*/ 551038 w 1093"/>
              <a:gd name="T63" fmla="*/ 9280 h 649"/>
              <a:gd name="T64" fmla="*/ 598724 w 1093"/>
              <a:gd name="T65" fmla="*/ 2652 h 649"/>
              <a:gd name="T66" fmla="*/ 645086 w 1093"/>
              <a:gd name="T67" fmla="*/ 0 h 649"/>
              <a:gd name="T68" fmla="*/ 692772 w 1093"/>
              <a:gd name="T69" fmla="*/ 1326 h 649"/>
              <a:gd name="T70" fmla="*/ 740458 w 1093"/>
              <a:gd name="T71" fmla="*/ 5303 h 649"/>
              <a:gd name="T72" fmla="*/ 786819 w 1093"/>
              <a:gd name="T73" fmla="*/ 13258 h 649"/>
              <a:gd name="T74" fmla="*/ 846426 w 1093"/>
              <a:gd name="T75" fmla="*/ 29167 h 649"/>
              <a:gd name="T76" fmla="*/ 931202 w 1093"/>
              <a:gd name="T77" fmla="*/ 62311 h 649"/>
              <a:gd name="T78" fmla="*/ 1009354 w 1093"/>
              <a:gd name="T79" fmla="*/ 108713 h 649"/>
              <a:gd name="T80" fmla="*/ 1082207 w 1093"/>
              <a:gd name="T81" fmla="*/ 165721 h 649"/>
              <a:gd name="T82" fmla="*/ 1145788 w 1093"/>
              <a:gd name="T83" fmla="*/ 232010 h 649"/>
              <a:gd name="T84" fmla="*/ 1201422 w 1093"/>
              <a:gd name="T85" fmla="*/ 308904 h 649"/>
              <a:gd name="T86" fmla="*/ 1247783 w 1093"/>
              <a:gd name="T87" fmla="*/ 392428 h 649"/>
              <a:gd name="T88" fmla="*/ 1283548 w 1093"/>
              <a:gd name="T89" fmla="*/ 482580 h 649"/>
              <a:gd name="T90" fmla="*/ 1307391 w 1093"/>
              <a:gd name="T91" fmla="*/ 579362 h 649"/>
              <a:gd name="T92" fmla="*/ 1447800 w 1093"/>
              <a:gd name="T93" fmla="*/ 645650 h 649"/>
              <a:gd name="T94" fmla="*/ 793442 w 1093"/>
              <a:gd name="T95" fmla="*/ 645650 h 649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1093"/>
              <a:gd name="T145" fmla="*/ 0 h 649"/>
              <a:gd name="T146" fmla="*/ 1093 w 1093"/>
              <a:gd name="T147" fmla="*/ 649 h 649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1093" h="649">
                <a:moveTo>
                  <a:pt x="599" y="487"/>
                </a:moveTo>
                <a:lnTo>
                  <a:pt x="596" y="474"/>
                </a:lnTo>
                <a:lnTo>
                  <a:pt x="593" y="461"/>
                </a:lnTo>
                <a:lnTo>
                  <a:pt x="590" y="448"/>
                </a:lnTo>
                <a:lnTo>
                  <a:pt x="586" y="435"/>
                </a:lnTo>
                <a:lnTo>
                  <a:pt x="581" y="423"/>
                </a:lnTo>
                <a:lnTo>
                  <a:pt x="576" y="411"/>
                </a:lnTo>
                <a:lnTo>
                  <a:pt x="570" y="399"/>
                </a:lnTo>
                <a:lnTo>
                  <a:pt x="563" y="387"/>
                </a:lnTo>
                <a:lnTo>
                  <a:pt x="557" y="376"/>
                </a:lnTo>
                <a:lnTo>
                  <a:pt x="549" y="365"/>
                </a:lnTo>
                <a:lnTo>
                  <a:pt x="542" y="354"/>
                </a:lnTo>
                <a:lnTo>
                  <a:pt x="534" y="344"/>
                </a:lnTo>
                <a:lnTo>
                  <a:pt x="525" y="334"/>
                </a:lnTo>
                <a:lnTo>
                  <a:pt x="516" y="325"/>
                </a:lnTo>
                <a:lnTo>
                  <a:pt x="507" y="316"/>
                </a:lnTo>
                <a:lnTo>
                  <a:pt x="497" y="307"/>
                </a:lnTo>
                <a:lnTo>
                  <a:pt x="487" y="299"/>
                </a:lnTo>
                <a:lnTo>
                  <a:pt x="476" y="291"/>
                </a:lnTo>
                <a:lnTo>
                  <a:pt x="465" y="283"/>
                </a:lnTo>
                <a:lnTo>
                  <a:pt x="454" y="276"/>
                </a:lnTo>
                <a:lnTo>
                  <a:pt x="443" y="270"/>
                </a:lnTo>
                <a:lnTo>
                  <a:pt x="431" y="264"/>
                </a:lnTo>
                <a:lnTo>
                  <a:pt x="419" y="258"/>
                </a:lnTo>
                <a:lnTo>
                  <a:pt x="407" y="253"/>
                </a:lnTo>
                <a:lnTo>
                  <a:pt x="394" y="249"/>
                </a:lnTo>
                <a:lnTo>
                  <a:pt x="381" y="245"/>
                </a:lnTo>
                <a:lnTo>
                  <a:pt x="368" y="242"/>
                </a:lnTo>
                <a:lnTo>
                  <a:pt x="355" y="239"/>
                </a:lnTo>
                <a:lnTo>
                  <a:pt x="341" y="237"/>
                </a:lnTo>
                <a:lnTo>
                  <a:pt x="328" y="235"/>
                </a:lnTo>
                <a:lnTo>
                  <a:pt x="314" y="234"/>
                </a:lnTo>
                <a:lnTo>
                  <a:pt x="300" y="234"/>
                </a:lnTo>
                <a:lnTo>
                  <a:pt x="285" y="234"/>
                </a:lnTo>
                <a:lnTo>
                  <a:pt x="270" y="235"/>
                </a:lnTo>
                <a:lnTo>
                  <a:pt x="256" y="237"/>
                </a:lnTo>
                <a:lnTo>
                  <a:pt x="242" y="240"/>
                </a:lnTo>
                <a:lnTo>
                  <a:pt x="228" y="243"/>
                </a:lnTo>
                <a:lnTo>
                  <a:pt x="214" y="247"/>
                </a:lnTo>
                <a:lnTo>
                  <a:pt x="200" y="251"/>
                </a:lnTo>
                <a:lnTo>
                  <a:pt x="187" y="256"/>
                </a:lnTo>
                <a:lnTo>
                  <a:pt x="174" y="262"/>
                </a:lnTo>
                <a:lnTo>
                  <a:pt x="161" y="268"/>
                </a:lnTo>
                <a:lnTo>
                  <a:pt x="149" y="274"/>
                </a:lnTo>
                <a:lnTo>
                  <a:pt x="137" y="282"/>
                </a:lnTo>
                <a:lnTo>
                  <a:pt x="126" y="290"/>
                </a:lnTo>
                <a:lnTo>
                  <a:pt x="115" y="298"/>
                </a:lnTo>
                <a:lnTo>
                  <a:pt x="104" y="307"/>
                </a:lnTo>
                <a:lnTo>
                  <a:pt x="94" y="316"/>
                </a:lnTo>
                <a:lnTo>
                  <a:pt x="84" y="326"/>
                </a:lnTo>
                <a:lnTo>
                  <a:pt x="74" y="336"/>
                </a:lnTo>
                <a:lnTo>
                  <a:pt x="65" y="347"/>
                </a:lnTo>
                <a:lnTo>
                  <a:pt x="57" y="358"/>
                </a:lnTo>
                <a:lnTo>
                  <a:pt x="49" y="369"/>
                </a:lnTo>
                <a:lnTo>
                  <a:pt x="41" y="381"/>
                </a:lnTo>
                <a:lnTo>
                  <a:pt x="35" y="393"/>
                </a:lnTo>
                <a:lnTo>
                  <a:pt x="28" y="405"/>
                </a:lnTo>
                <a:lnTo>
                  <a:pt x="22" y="418"/>
                </a:lnTo>
                <a:lnTo>
                  <a:pt x="17" y="431"/>
                </a:lnTo>
                <a:lnTo>
                  <a:pt x="13" y="445"/>
                </a:lnTo>
                <a:lnTo>
                  <a:pt x="9" y="459"/>
                </a:lnTo>
                <a:lnTo>
                  <a:pt x="5" y="473"/>
                </a:lnTo>
                <a:lnTo>
                  <a:pt x="3" y="487"/>
                </a:lnTo>
                <a:lnTo>
                  <a:pt x="1" y="501"/>
                </a:lnTo>
                <a:lnTo>
                  <a:pt x="0" y="516"/>
                </a:lnTo>
                <a:lnTo>
                  <a:pt x="3" y="488"/>
                </a:lnTo>
                <a:lnTo>
                  <a:pt x="6" y="463"/>
                </a:lnTo>
                <a:lnTo>
                  <a:pt x="10" y="438"/>
                </a:lnTo>
                <a:lnTo>
                  <a:pt x="15" y="413"/>
                </a:lnTo>
                <a:lnTo>
                  <a:pt x="21" y="389"/>
                </a:lnTo>
                <a:lnTo>
                  <a:pt x="28" y="365"/>
                </a:lnTo>
                <a:lnTo>
                  <a:pt x="36" y="341"/>
                </a:lnTo>
                <a:lnTo>
                  <a:pt x="45" y="319"/>
                </a:lnTo>
                <a:lnTo>
                  <a:pt x="55" y="296"/>
                </a:lnTo>
                <a:lnTo>
                  <a:pt x="66" y="275"/>
                </a:lnTo>
                <a:lnTo>
                  <a:pt x="77" y="253"/>
                </a:lnTo>
                <a:lnTo>
                  <a:pt x="90" y="233"/>
                </a:lnTo>
                <a:lnTo>
                  <a:pt x="103" y="213"/>
                </a:lnTo>
                <a:lnTo>
                  <a:pt x="117" y="194"/>
                </a:lnTo>
                <a:lnTo>
                  <a:pt x="132" y="176"/>
                </a:lnTo>
                <a:lnTo>
                  <a:pt x="147" y="158"/>
                </a:lnTo>
                <a:lnTo>
                  <a:pt x="164" y="141"/>
                </a:lnTo>
                <a:lnTo>
                  <a:pt x="181" y="125"/>
                </a:lnTo>
                <a:lnTo>
                  <a:pt x="198" y="110"/>
                </a:lnTo>
                <a:lnTo>
                  <a:pt x="217" y="96"/>
                </a:lnTo>
                <a:lnTo>
                  <a:pt x="235" y="82"/>
                </a:lnTo>
                <a:lnTo>
                  <a:pt x="255" y="70"/>
                </a:lnTo>
                <a:lnTo>
                  <a:pt x="275" y="58"/>
                </a:lnTo>
                <a:lnTo>
                  <a:pt x="295" y="47"/>
                </a:lnTo>
                <a:lnTo>
                  <a:pt x="316" y="38"/>
                </a:lnTo>
                <a:lnTo>
                  <a:pt x="338" y="29"/>
                </a:lnTo>
                <a:lnTo>
                  <a:pt x="360" y="22"/>
                </a:lnTo>
                <a:lnTo>
                  <a:pt x="382" y="15"/>
                </a:lnTo>
                <a:lnTo>
                  <a:pt x="393" y="12"/>
                </a:lnTo>
                <a:lnTo>
                  <a:pt x="405" y="10"/>
                </a:lnTo>
                <a:lnTo>
                  <a:pt x="416" y="7"/>
                </a:lnTo>
                <a:lnTo>
                  <a:pt x="428" y="6"/>
                </a:lnTo>
                <a:lnTo>
                  <a:pt x="440" y="4"/>
                </a:lnTo>
                <a:lnTo>
                  <a:pt x="452" y="2"/>
                </a:lnTo>
                <a:lnTo>
                  <a:pt x="463" y="1"/>
                </a:lnTo>
                <a:lnTo>
                  <a:pt x="475" y="1"/>
                </a:lnTo>
                <a:lnTo>
                  <a:pt x="487" y="0"/>
                </a:lnTo>
                <a:lnTo>
                  <a:pt x="499" y="0"/>
                </a:lnTo>
                <a:lnTo>
                  <a:pt x="511" y="0"/>
                </a:lnTo>
                <a:lnTo>
                  <a:pt x="523" y="1"/>
                </a:lnTo>
                <a:lnTo>
                  <a:pt x="535" y="1"/>
                </a:lnTo>
                <a:lnTo>
                  <a:pt x="547" y="2"/>
                </a:lnTo>
                <a:lnTo>
                  <a:pt x="559" y="4"/>
                </a:lnTo>
                <a:lnTo>
                  <a:pt x="571" y="6"/>
                </a:lnTo>
                <a:lnTo>
                  <a:pt x="582" y="7"/>
                </a:lnTo>
                <a:lnTo>
                  <a:pt x="594" y="10"/>
                </a:lnTo>
                <a:lnTo>
                  <a:pt x="605" y="12"/>
                </a:lnTo>
                <a:lnTo>
                  <a:pt x="616" y="15"/>
                </a:lnTo>
                <a:lnTo>
                  <a:pt x="639" y="22"/>
                </a:lnTo>
                <a:lnTo>
                  <a:pt x="660" y="29"/>
                </a:lnTo>
                <a:lnTo>
                  <a:pt x="682" y="38"/>
                </a:lnTo>
                <a:lnTo>
                  <a:pt x="703" y="47"/>
                </a:lnTo>
                <a:lnTo>
                  <a:pt x="723" y="58"/>
                </a:lnTo>
                <a:lnTo>
                  <a:pt x="743" y="70"/>
                </a:lnTo>
                <a:lnTo>
                  <a:pt x="762" y="82"/>
                </a:lnTo>
                <a:lnTo>
                  <a:pt x="781" y="96"/>
                </a:lnTo>
                <a:lnTo>
                  <a:pt x="799" y="110"/>
                </a:lnTo>
                <a:lnTo>
                  <a:pt x="817" y="125"/>
                </a:lnTo>
                <a:lnTo>
                  <a:pt x="834" y="141"/>
                </a:lnTo>
                <a:lnTo>
                  <a:pt x="850" y="158"/>
                </a:lnTo>
                <a:lnTo>
                  <a:pt x="865" y="175"/>
                </a:lnTo>
                <a:lnTo>
                  <a:pt x="880" y="194"/>
                </a:lnTo>
                <a:lnTo>
                  <a:pt x="894" y="213"/>
                </a:lnTo>
                <a:lnTo>
                  <a:pt x="907" y="233"/>
                </a:lnTo>
                <a:lnTo>
                  <a:pt x="920" y="253"/>
                </a:lnTo>
                <a:lnTo>
                  <a:pt x="931" y="274"/>
                </a:lnTo>
                <a:lnTo>
                  <a:pt x="942" y="296"/>
                </a:lnTo>
                <a:lnTo>
                  <a:pt x="952" y="318"/>
                </a:lnTo>
                <a:lnTo>
                  <a:pt x="961" y="341"/>
                </a:lnTo>
                <a:lnTo>
                  <a:pt x="969" y="364"/>
                </a:lnTo>
                <a:lnTo>
                  <a:pt x="976" y="388"/>
                </a:lnTo>
                <a:lnTo>
                  <a:pt x="982" y="412"/>
                </a:lnTo>
                <a:lnTo>
                  <a:pt x="987" y="437"/>
                </a:lnTo>
                <a:lnTo>
                  <a:pt x="991" y="462"/>
                </a:lnTo>
                <a:lnTo>
                  <a:pt x="994" y="487"/>
                </a:lnTo>
                <a:lnTo>
                  <a:pt x="1093" y="487"/>
                </a:lnTo>
                <a:lnTo>
                  <a:pt x="788" y="649"/>
                </a:lnTo>
                <a:lnTo>
                  <a:pt x="497" y="487"/>
                </a:lnTo>
                <a:lnTo>
                  <a:pt x="599" y="487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68" name="Freeform 96"/>
          <p:cNvSpPr>
            <a:spLocks/>
          </p:cNvSpPr>
          <p:nvPr/>
        </p:nvSpPr>
        <p:spPr bwMode="auto">
          <a:xfrm>
            <a:off x="6870700" y="3281363"/>
            <a:ext cx="1447800" cy="860425"/>
          </a:xfrm>
          <a:custGeom>
            <a:avLst/>
            <a:gdLst>
              <a:gd name="T0" fmla="*/ 660981 w 1093"/>
              <a:gd name="T1" fmla="*/ 250571 h 649"/>
              <a:gd name="T2" fmla="*/ 678201 w 1093"/>
              <a:gd name="T3" fmla="*/ 299624 h 649"/>
              <a:gd name="T4" fmla="*/ 700719 w 1093"/>
              <a:gd name="T5" fmla="*/ 347352 h 649"/>
              <a:gd name="T6" fmla="*/ 729861 w 1093"/>
              <a:gd name="T7" fmla="*/ 391102 h 649"/>
              <a:gd name="T8" fmla="*/ 764301 w 1093"/>
              <a:gd name="T9" fmla="*/ 429550 h 649"/>
              <a:gd name="T10" fmla="*/ 802714 w 1093"/>
              <a:gd name="T11" fmla="*/ 465345 h 649"/>
              <a:gd name="T12" fmla="*/ 846426 w 1093"/>
              <a:gd name="T13" fmla="*/ 494512 h 649"/>
              <a:gd name="T14" fmla="*/ 892788 w 1093"/>
              <a:gd name="T15" fmla="*/ 518376 h 649"/>
              <a:gd name="T16" fmla="*/ 943123 w 1093"/>
              <a:gd name="T17" fmla="*/ 535611 h 649"/>
              <a:gd name="T18" fmla="*/ 994783 w 1093"/>
              <a:gd name="T19" fmla="*/ 546217 h 649"/>
              <a:gd name="T20" fmla="*/ 1050417 w 1093"/>
              <a:gd name="T21" fmla="*/ 550195 h 649"/>
              <a:gd name="T22" fmla="*/ 1108699 w 1093"/>
              <a:gd name="T23" fmla="*/ 546217 h 649"/>
              <a:gd name="T24" fmla="*/ 1164333 w 1093"/>
              <a:gd name="T25" fmla="*/ 534285 h 649"/>
              <a:gd name="T26" fmla="*/ 1217317 w 1093"/>
              <a:gd name="T27" fmla="*/ 514399 h 649"/>
              <a:gd name="T28" fmla="*/ 1265003 w 1093"/>
              <a:gd name="T29" fmla="*/ 486558 h 649"/>
              <a:gd name="T30" fmla="*/ 1310040 w 1093"/>
              <a:gd name="T31" fmla="*/ 454739 h 649"/>
              <a:gd name="T32" fmla="*/ 1348454 w 1093"/>
              <a:gd name="T33" fmla="*/ 414966 h 649"/>
              <a:gd name="T34" fmla="*/ 1382894 w 1093"/>
              <a:gd name="T35" fmla="*/ 371216 h 649"/>
              <a:gd name="T36" fmla="*/ 1409386 w 1093"/>
              <a:gd name="T37" fmla="*/ 323488 h 649"/>
              <a:gd name="T38" fmla="*/ 1430580 w 1093"/>
              <a:gd name="T39" fmla="*/ 270457 h 649"/>
              <a:gd name="T40" fmla="*/ 1443826 w 1093"/>
              <a:gd name="T41" fmla="*/ 214775 h 649"/>
              <a:gd name="T42" fmla="*/ 1443826 w 1093"/>
              <a:gd name="T43" fmla="*/ 213449 h 649"/>
              <a:gd name="T44" fmla="*/ 1427931 w 1093"/>
              <a:gd name="T45" fmla="*/ 312882 h 649"/>
              <a:gd name="T46" fmla="*/ 1400114 w 1093"/>
              <a:gd name="T47" fmla="*/ 408337 h 649"/>
              <a:gd name="T48" fmla="*/ 1360376 w 1093"/>
              <a:gd name="T49" fmla="*/ 497164 h 649"/>
              <a:gd name="T50" fmla="*/ 1311365 w 1093"/>
              <a:gd name="T51" fmla="*/ 578036 h 649"/>
              <a:gd name="T52" fmla="*/ 1251757 w 1093"/>
              <a:gd name="T53" fmla="*/ 650953 h 649"/>
              <a:gd name="T54" fmla="*/ 1184202 w 1093"/>
              <a:gd name="T55" fmla="*/ 714590 h 649"/>
              <a:gd name="T56" fmla="*/ 1110024 w 1093"/>
              <a:gd name="T57" fmla="*/ 768947 h 649"/>
              <a:gd name="T58" fmla="*/ 1027898 w 1093"/>
              <a:gd name="T59" fmla="*/ 810046 h 649"/>
              <a:gd name="T60" fmla="*/ 941798 w 1093"/>
              <a:gd name="T61" fmla="*/ 840538 h 649"/>
              <a:gd name="T62" fmla="*/ 895437 w 1093"/>
              <a:gd name="T63" fmla="*/ 851145 h 649"/>
              <a:gd name="T64" fmla="*/ 849076 w 1093"/>
              <a:gd name="T65" fmla="*/ 857773 h 649"/>
              <a:gd name="T66" fmla="*/ 801390 w 1093"/>
              <a:gd name="T67" fmla="*/ 860425 h 649"/>
              <a:gd name="T68" fmla="*/ 753704 w 1093"/>
              <a:gd name="T69" fmla="*/ 860425 h 649"/>
              <a:gd name="T70" fmla="*/ 707342 w 1093"/>
              <a:gd name="T71" fmla="*/ 855122 h 649"/>
              <a:gd name="T72" fmla="*/ 660981 w 1093"/>
              <a:gd name="T73" fmla="*/ 848493 h 649"/>
              <a:gd name="T74" fmla="*/ 601373 w 1093"/>
              <a:gd name="T75" fmla="*/ 832584 h 649"/>
              <a:gd name="T76" fmla="*/ 516598 w 1093"/>
              <a:gd name="T77" fmla="*/ 798114 h 649"/>
              <a:gd name="T78" fmla="*/ 437122 w 1093"/>
              <a:gd name="T79" fmla="*/ 751712 h 649"/>
              <a:gd name="T80" fmla="*/ 365593 w 1093"/>
              <a:gd name="T81" fmla="*/ 694704 h 649"/>
              <a:gd name="T82" fmla="*/ 300687 w 1093"/>
              <a:gd name="T83" fmla="*/ 628415 h 649"/>
              <a:gd name="T84" fmla="*/ 246378 w 1093"/>
              <a:gd name="T85" fmla="*/ 552846 h 649"/>
              <a:gd name="T86" fmla="*/ 200016 w 1093"/>
              <a:gd name="T87" fmla="*/ 469323 h 649"/>
              <a:gd name="T88" fmla="*/ 164252 w 1093"/>
              <a:gd name="T89" fmla="*/ 377845 h 649"/>
              <a:gd name="T90" fmla="*/ 140409 w 1093"/>
              <a:gd name="T91" fmla="*/ 282389 h 649"/>
              <a:gd name="T92" fmla="*/ 0 w 1093"/>
              <a:gd name="T93" fmla="*/ 214775 h 649"/>
              <a:gd name="T94" fmla="*/ 654358 w 1093"/>
              <a:gd name="T95" fmla="*/ 214775 h 649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1093"/>
              <a:gd name="T145" fmla="*/ 0 h 649"/>
              <a:gd name="T146" fmla="*/ 1093 w 1093"/>
              <a:gd name="T147" fmla="*/ 649 h 649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1093" h="649">
                <a:moveTo>
                  <a:pt x="494" y="162"/>
                </a:moveTo>
                <a:lnTo>
                  <a:pt x="496" y="175"/>
                </a:lnTo>
                <a:lnTo>
                  <a:pt x="499" y="189"/>
                </a:lnTo>
                <a:lnTo>
                  <a:pt x="503" y="201"/>
                </a:lnTo>
                <a:lnTo>
                  <a:pt x="507" y="214"/>
                </a:lnTo>
                <a:lnTo>
                  <a:pt x="512" y="226"/>
                </a:lnTo>
                <a:lnTo>
                  <a:pt x="517" y="239"/>
                </a:lnTo>
                <a:lnTo>
                  <a:pt x="523" y="250"/>
                </a:lnTo>
                <a:lnTo>
                  <a:pt x="529" y="262"/>
                </a:lnTo>
                <a:lnTo>
                  <a:pt x="536" y="273"/>
                </a:lnTo>
                <a:lnTo>
                  <a:pt x="543" y="284"/>
                </a:lnTo>
                <a:lnTo>
                  <a:pt x="551" y="295"/>
                </a:lnTo>
                <a:lnTo>
                  <a:pt x="559" y="305"/>
                </a:lnTo>
                <a:lnTo>
                  <a:pt x="568" y="315"/>
                </a:lnTo>
                <a:lnTo>
                  <a:pt x="577" y="324"/>
                </a:lnTo>
                <a:lnTo>
                  <a:pt x="586" y="334"/>
                </a:lnTo>
                <a:lnTo>
                  <a:pt x="596" y="342"/>
                </a:lnTo>
                <a:lnTo>
                  <a:pt x="606" y="351"/>
                </a:lnTo>
                <a:lnTo>
                  <a:pt x="617" y="358"/>
                </a:lnTo>
                <a:lnTo>
                  <a:pt x="627" y="366"/>
                </a:lnTo>
                <a:lnTo>
                  <a:pt x="639" y="373"/>
                </a:lnTo>
                <a:lnTo>
                  <a:pt x="650" y="379"/>
                </a:lnTo>
                <a:lnTo>
                  <a:pt x="662" y="385"/>
                </a:lnTo>
                <a:lnTo>
                  <a:pt x="674" y="391"/>
                </a:lnTo>
                <a:lnTo>
                  <a:pt x="686" y="396"/>
                </a:lnTo>
                <a:lnTo>
                  <a:pt x="699" y="400"/>
                </a:lnTo>
                <a:lnTo>
                  <a:pt x="712" y="404"/>
                </a:lnTo>
                <a:lnTo>
                  <a:pt x="725" y="407"/>
                </a:lnTo>
                <a:lnTo>
                  <a:pt x="738" y="410"/>
                </a:lnTo>
                <a:lnTo>
                  <a:pt x="751" y="412"/>
                </a:lnTo>
                <a:lnTo>
                  <a:pt x="765" y="414"/>
                </a:lnTo>
                <a:lnTo>
                  <a:pt x="779" y="415"/>
                </a:lnTo>
                <a:lnTo>
                  <a:pt x="793" y="415"/>
                </a:lnTo>
                <a:lnTo>
                  <a:pt x="808" y="415"/>
                </a:lnTo>
                <a:lnTo>
                  <a:pt x="822" y="414"/>
                </a:lnTo>
                <a:lnTo>
                  <a:pt x="837" y="412"/>
                </a:lnTo>
                <a:lnTo>
                  <a:pt x="851" y="410"/>
                </a:lnTo>
                <a:lnTo>
                  <a:pt x="865" y="406"/>
                </a:lnTo>
                <a:lnTo>
                  <a:pt x="879" y="403"/>
                </a:lnTo>
                <a:lnTo>
                  <a:pt x="892" y="398"/>
                </a:lnTo>
                <a:lnTo>
                  <a:pt x="906" y="393"/>
                </a:lnTo>
                <a:lnTo>
                  <a:pt x="919" y="388"/>
                </a:lnTo>
                <a:lnTo>
                  <a:pt x="931" y="382"/>
                </a:lnTo>
                <a:lnTo>
                  <a:pt x="943" y="375"/>
                </a:lnTo>
                <a:lnTo>
                  <a:pt x="955" y="367"/>
                </a:lnTo>
                <a:lnTo>
                  <a:pt x="967" y="360"/>
                </a:lnTo>
                <a:lnTo>
                  <a:pt x="978" y="351"/>
                </a:lnTo>
                <a:lnTo>
                  <a:pt x="989" y="343"/>
                </a:lnTo>
                <a:lnTo>
                  <a:pt x="999" y="333"/>
                </a:lnTo>
                <a:lnTo>
                  <a:pt x="1009" y="324"/>
                </a:lnTo>
                <a:lnTo>
                  <a:pt x="1018" y="313"/>
                </a:lnTo>
                <a:lnTo>
                  <a:pt x="1027" y="303"/>
                </a:lnTo>
                <a:lnTo>
                  <a:pt x="1036" y="292"/>
                </a:lnTo>
                <a:lnTo>
                  <a:pt x="1044" y="280"/>
                </a:lnTo>
                <a:lnTo>
                  <a:pt x="1051" y="268"/>
                </a:lnTo>
                <a:lnTo>
                  <a:pt x="1058" y="256"/>
                </a:lnTo>
                <a:lnTo>
                  <a:pt x="1064" y="244"/>
                </a:lnTo>
                <a:lnTo>
                  <a:pt x="1070" y="231"/>
                </a:lnTo>
                <a:lnTo>
                  <a:pt x="1075" y="218"/>
                </a:lnTo>
                <a:lnTo>
                  <a:pt x="1080" y="204"/>
                </a:lnTo>
                <a:lnTo>
                  <a:pt x="1084" y="191"/>
                </a:lnTo>
                <a:lnTo>
                  <a:pt x="1087" y="177"/>
                </a:lnTo>
                <a:lnTo>
                  <a:pt x="1090" y="162"/>
                </a:lnTo>
                <a:lnTo>
                  <a:pt x="1092" y="148"/>
                </a:lnTo>
                <a:lnTo>
                  <a:pt x="1093" y="133"/>
                </a:lnTo>
                <a:lnTo>
                  <a:pt x="1090" y="161"/>
                </a:lnTo>
                <a:lnTo>
                  <a:pt x="1087" y="187"/>
                </a:lnTo>
                <a:lnTo>
                  <a:pt x="1083" y="212"/>
                </a:lnTo>
                <a:lnTo>
                  <a:pt x="1078" y="236"/>
                </a:lnTo>
                <a:lnTo>
                  <a:pt x="1072" y="261"/>
                </a:lnTo>
                <a:lnTo>
                  <a:pt x="1065" y="285"/>
                </a:lnTo>
                <a:lnTo>
                  <a:pt x="1057" y="308"/>
                </a:lnTo>
                <a:lnTo>
                  <a:pt x="1048" y="331"/>
                </a:lnTo>
                <a:lnTo>
                  <a:pt x="1038" y="353"/>
                </a:lnTo>
                <a:lnTo>
                  <a:pt x="1027" y="375"/>
                </a:lnTo>
                <a:lnTo>
                  <a:pt x="1016" y="396"/>
                </a:lnTo>
                <a:lnTo>
                  <a:pt x="1003" y="416"/>
                </a:lnTo>
                <a:lnTo>
                  <a:pt x="990" y="436"/>
                </a:lnTo>
                <a:lnTo>
                  <a:pt x="976" y="455"/>
                </a:lnTo>
                <a:lnTo>
                  <a:pt x="961" y="473"/>
                </a:lnTo>
                <a:lnTo>
                  <a:pt x="945" y="491"/>
                </a:lnTo>
                <a:lnTo>
                  <a:pt x="929" y="508"/>
                </a:lnTo>
                <a:lnTo>
                  <a:pt x="912" y="524"/>
                </a:lnTo>
                <a:lnTo>
                  <a:pt x="894" y="539"/>
                </a:lnTo>
                <a:lnTo>
                  <a:pt x="876" y="554"/>
                </a:lnTo>
                <a:lnTo>
                  <a:pt x="857" y="567"/>
                </a:lnTo>
                <a:lnTo>
                  <a:pt x="838" y="580"/>
                </a:lnTo>
                <a:lnTo>
                  <a:pt x="818" y="591"/>
                </a:lnTo>
                <a:lnTo>
                  <a:pt x="797" y="602"/>
                </a:lnTo>
                <a:lnTo>
                  <a:pt x="776" y="611"/>
                </a:lnTo>
                <a:lnTo>
                  <a:pt x="755" y="620"/>
                </a:lnTo>
                <a:lnTo>
                  <a:pt x="733" y="628"/>
                </a:lnTo>
                <a:lnTo>
                  <a:pt x="711" y="634"/>
                </a:lnTo>
                <a:lnTo>
                  <a:pt x="699" y="637"/>
                </a:lnTo>
                <a:lnTo>
                  <a:pt x="688" y="639"/>
                </a:lnTo>
                <a:lnTo>
                  <a:pt x="676" y="642"/>
                </a:lnTo>
                <a:lnTo>
                  <a:pt x="665" y="644"/>
                </a:lnTo>
                <a:lnTo>
                  <a:pt x="653" y="645"/>
                </a:lnTo>
                <a:lnTo>
                  <a:pt x="641" y="647"/>
                </a:lnTo>
                <a:lnTo>
                  <a:pt x="629" y="648"/>
                </a:lnTo>
                <a:lnTo>
                  <a:pt x="617" y="649"/>
                </a:lnTo>
                <a:lnTo>
                  <a:pt x="605" y="649"/>
                </a:lnTo>
                <a:lnTo>
                  <a:pt x="593" y="649"/>
                </a:lnTo>
                <a:lnTo>
                  <a:pt x="581" y="649"/>
                </a:lnTo>
                <a:lnTo>
                  <a:pt x="569" y="649"/>
                </a:lnTo>
                <a:lnTo>
                  <a:pt x="557" y="648"/>
                </a:lnTo>
                <a:lnTo>
                  <a:pt x="545" y="647"/>
                </a:lnTo>
                <a:lnTo>
                  <a:pt x="534" y="645"/>
                </a:lnTo>
                <a:lnTo>
                  <a:pt x="522" y="644"/>
                </a:lnTo>
                <a:lnTo>
                  <a:pt x="510" y="642"/>
                </a:lnTo>
                <a:lnTo>
                  <a:pt x="499" y="640"/>
                </a:lnTo>
                <a:lnTo>
                  <a:pt x="488" y="637"/>
                </a:lnTo>
                <a:lnTo>
                  <a:pt x="476" y="634"/>
                </a:lnTo>
                <a:lnTo>
                  <a:pt x="454" y="628"/>
                </a:lnTo>
                <a:lnTo>
                  <a:pt x="432" y="620"/>
                </a:lnTo>
                <a:lnTo>
                  <a:pt x="411" y="612"/>
                </a:lnTo>
                <a:lnTo>
                  <a:pt x="390" y="602"/>
                </a:lnTo>
                <a:lnTo>
                  <a:pt x="370" y="591"/>
                </a:lnTo>
                <a:lnTo>
                  <a:pt x="350" y="580"/>
                </a:lnTo>
                <a:lnTo>
                  <a:pt x="330" y="567"/>
                </a:lnTo>
                <a:lnTo>
                  <a:pt x="312" y="554"/>
                </a:lnTo>
                <a:lnTo>
                  <a:pt x="293" y="539"/>
                </a:lnTo>
                <a:lnTo>
                  <a:pt x="276" y="524"/>
                </a:lnTo>
                <a:lnTo>
                  <a:pt x="259" y="508"/>
                </a:lnTo>
                <a:lnTo>
                  <a:pt x="243" y="491"/>
                </a:lnTo>
                <a:lnTo>
                  <a:pt x="227" y="474"/>
                </a:lnTo>
                <a:lnTo>
                  <a:pt x="213" y="455"/>
                </a:lnTo>
                <a:lnTo>
                  <a:pt x="199" y="436"/>
                </a:lnTo>
                <a:lnTo>
                  <a:pt x="186" y="417"/>
                </a:lnTo>
                <a:lnTo>
                  <a:pt x="173" y="396"/>
                </a:lnTo>
                <a:lnTo>
                  <a:pt x="162" y="375"/>
                </a:lnTo>
                <a:lnTo>
                  <a:pt x="151" y="354"/>
                </a:lnTo>
                <a:lnTo>
                  <a:pt x="141" y="331"/>
                </a:lnTo>
                <a:lnTo>
                  <a:pt x="132" y="309"/>
                </a:lnTo>
                <a:lnTo>
                  <a:pt x="124" y="285"/>
                </a:lnTo>
                <a:lnTo>
                  <a:pt x="117" y="262"/>
                </a:lnTo>
                <a:lnTo>
                  <a:pt x="111" y="237"/>
                </a:lnTo>
                <a:lnTo>
                  <a:pt x="106" y="213"/>
                </a:lnTo>
                <a:lnTo>
                  <a:pt x="102" y="188"/>
                </a:lnTo>
                <a:lnTo>
                  <a:pt x="99" y="162"/>
                </a:lnTo>
                <a:lnTo>
                  <a:pt x="0" y="162"/>
                </a:lnTo>
                <a:lnTo>
                  <a:pt x="305" y="0"/>
                </a:lnTo>
                <a:lnTo>
                  <a:pt x="596" y="162"/>
                </a:lnTo>
                <a:lnTo>
                  <a:pt x="494" y="162"/>
                </a:lnTo>
                <a:close/>
              </a:path>
            </a:pathLst>
          </a:custGeom>
          <a:solidFill>
            <a:schemeClr val="folHlink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8269" name="Picture 97" descr="MCj04316400000[1]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321675" y="3787775"/>
            <a:ext cx="4921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70" name="Text Box 98"/>
          <p:cNvSpPr txBox="1">
            <a:spLocks noChangeArrowheads="1"/>
          </p:cNvSpPr>
          <p:nvPr/>
        </p:nvSpPr>
        <p:spPr bwMode="gray">
          <a:xfrm>
            <a:off x="7110413" y="2278063"/>
            <a:ext cx="1816100" cy="220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sz="1600" b="1">
                <a:latin typeface="Arial" charset="0"/>
              </a:rPr>
              <a:t>Recommendations</a:t>
            </a:r>
          </a:p>
        </p:txBody>
      </p:sp>
      <p:sp>
        <p:nvSpPr>
          <p:cNvPr id="842851" name="AutoShape 99"/>
          <p:cNvSpPr>
            <a:spLocks noChangeArrowheads="1"/>
          </p:cNvSpPr>
          <p:nvPr/>
        </p:nvSpPr>
        <p:spPr bwMode="gray">
          <a:xfrm rot="5400000">
            <a:off x="5993607" y="3450431"/>
            <a:ext cx="1333500" cy="173037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en-US"/>
          </a:p>
        </p:txBody>
      </p:sp>
      <p:grpSp>
        <p:nvGrpSpPr>
          <p:cNvPr id="12" name="Group 100"/>
          <p:cNvGrpSpPr>
            <a:grpSpLocks/>
          </p:cNvGrpSpPr>
          <p:nvPr/>
        </p:nvGrpSpPr>
        <p:grpSpPr bwMode="auto">
          <a:xfrm>
            <a:off x="7148513" y="3590925"/>
            <a:ext cx="461962" cy="412750"/>
            <a:chOff x="1525" y="1344"/>
            <a:chExt cx="291" cy="260"/>
          </a:xfrm>
        </p:grpSpPr>
        <p:sp>
          <p:nvSpPr>
            <p:cNvPr id="842853" name="Oval 101"/>
            <p:cNvSpPr>
              <a:spLocks noChangeArrowheads="1"/>
            </p:cNvSpPr>
            <p:nvPr/>
          </p:nvSpPr>
          <p:spPr bwMode="gray">
            <a:xfrm>
              <a:off x="1525" y="1344"/>
              <a:ext cx="291" cy="260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281" name="Oval 102"/>
            <p:cNvSpPr>
              <a:spLocks noChangeArrowheads="1"/>
            </p:cNvSpPr>
            <p:nvPr/>
          </p:nvSpPr>
          <p:spPr bwMode="gray">
            <a:xfrm>
              <a:off x="1634" y="1442"/>
              <a:ext cx="72" cy="6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eaLnBrk="1" hangingPunct="1">
                <a:lnSpc>
                  <a:spcPct val="90000"/>
                </a:lnSpc>
                <a:spcBef>
                  <a:spcPct val="0"/>
                </a:spcBef>
              </a:pPr>
              <a:endParaRPr lang="en-US" sz="3400" b="1">
                <a:latin typeface="Arial" charset="0"/>
              </a:endParaRPr>
            </a:p>
          </p:txBody>
        </p:sp>
      </p:grpSp>
      <p:grpSp>
        <p:nvGrpSpPr>
          <p:cNvPr id="13" name="Group 103"/>
          <p:cNvGrpSpPr>
            <a:grpSpLocks/>
          </p:cNvGrpSpPr>
          <p:nvPr/>
        </p:nvGrpSpPr>
        <p:grpSpPr bwMode="auto">
          <a:xfrm>
            <a:off x="8232775" y="2900363"/>
            <a:ext cx="461963" cy="412750"/>
            <a:chOff x="1525" y="1344"/>
            <a:chExt cx="291" cy="260"/>
          </a:xfrm>
        </p:grpSpPr>
        <p:sp>
          <p:nvSpPr>
            <p:cNvPr id="8278" name="Oval 104"/>
            <p:cNvSpPr>
              <a:spLocks noChangeArrowheads="1"/>
            </p:cNvSpPr>
            <p:nvPr/>
          </p:nvSpPr>
          <p:spPr bwMode="gray">
            <a:xfrm>
              <a:off x="1525" y="1344"/>
              <a:ext cx="291" cy="260"/>
            </a:xfrm>
            <a:prstGeom prst="ellipse">
              <a:avLst/>
            </a:prstGeom>
            <a:gradFill rotWithShape="1"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endParaRPr lang="en-US"/>
            </a:p>
          </p:txBody>
        </p:sp>
        <p:sp>
          <p:nvSpPr>
            <p:cNvPr id="8279" name="Oval 105"/>
            <p:cNvSpPr>
              <a:spLocks noChangeArrowheads="1"/>
            </p:cNvSpPr>
            <p:nvPr/>
          </p:nvSpPr>
          <p:spPr bwMode="gray">
            <a:xfrm>
              <a:off x="1634" y="1442"/>
              <a:ext cx="72" cy="6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eaLnBrk="1" hangingPunct="1">
                <a:lnSpc>
                  <a:spcPct val="90000"/>
                </a:lnSpc>
                <a:spcBef>
                  <a:spcPct val="0"/>
                </a:spcBef>
              </a:pPr>
              <a:endParaRPr lang="en-US" sz="3400" b="1">
                <a:latin typeface="Arial" charset="0"/>
              </a:endParaRPr>
            </a:p>
          </p:txBody>
        </p:sp>
      </p:grpSp>
      <p:sp>
        <p:nvSpPr>
          <p:cNvPr id="8274" name="Rectangle 106"/>
          <p:cNvSpPr>
            <a:spLocks noChangeArrowheads="1"/>
          </p:cNvSpPr>
          <p:nvPr/>
        </p:nvSpPr>
        <p:spPr bwMode="gray">
          <a:xfrm>
            <a:off x="257175" y="4537075"/>
            <a:ext cx="3054350" cy="84772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tIns="91440" bIns="91440"/>
          <a:lstStyle/>
          <a:p>
            <a:pPr marL="117475" indent="-117475" algn="l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000">
                <a:latin typeface="Arial" charset="0"/>
              </a:rPr>
              <a:t>Encourage users to rate movies</a:t>
            </a:r>
          </a:p>
          <a:p>
            <a:pPr marL="117475" indent="-117475" algn="l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Font typeface="Wingdings" pitchFamily="2" charset="2"/>
              <a:buChar char="§"/>
            </a:pPr>
            <a:endParaRPr lang="en-US" sz="2000">
              <a:latin typeface="Arial" charset="0"/>
            </a:endParaRPr>
          </a:p>
          <a:p>
            <a:pPr marL="117475" indent="-117475" algn="l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Font typeface="Wingdings" pitchFamily="2" charset="2"/>
              <a:buChar char="§"/>
            </a:pPr>
            <a:endParaRPr lang="en-US" sz="2000">
              <a:latin typeface="Arial" charset="0"/>
            </a:endParaRPr>
          </a:p>
        </p:txBody>
      </p:sp>
      <p:sp>
        <p:nvSpPr>
          <p:cNvPr id="8275" name="Rectangle 107"/>
          <p:cNvSpPr>
            <a:spLocks noChangeArrowheads="1"/>
          </p:cNvSpPr>
          <p:nvPr/>
        </p:nvSpPr>
        <p:spPr bwMode="gray">
          <a:xfrm>
            <a:off x="3482975" y="4537075"/>
            <a:ext cx="2990850" cy="183832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tIns="91440" bIns="91440"/>
          <a:lstStyle/>
          <a:p>
            <a:pPr marL="117475" indent="-117475" algn="l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000">
                <a:latin typeface="Arial" charset="0"/>
              </a:rPr>
              <a:t>Determine correlations in user ratings to identify similar users</a:t>
            </a:r>
          </a:p>
        </p:txBody>
      </p:sp>
      <p:sp>
        <p:nvSpPr>
          <p:cNvPr id="8276" name="Rectangle 108"/>
          <p:cNvSpPr>
            <a:spLocks noChangeArrowheads="1"/>
          </p:cNvSpPr>
          <p:nvPr/>
        </p:nvSpPr>
        <p:spPr bwMode="gray">
          <a:xfrm>
            <a:off x="6848475" y="4537075"/>
            <a:ext cx="2076450" cy="141922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tIns="91440" bIns="91440"/>
          <a:lstStyle/>
          <a:p>
            <a:pPr marL="117475" indent="-117475" algn="l" eaLnBrk="1" hangingPunct="1">
              <a:lnSpc>
                <a:spcPct val="90000"/>
              </a:lnSpc>
              <a:spcBef>
                <a:spcPct val="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000">
                <a:latin typeface="Arial" charset="0"/>
              </a:rPr>
              <a:t>Recommend movies based on evaluations of similar people</a:t>
            </a:r>
          </a:p>
        </p:txBody>
      </p:sp>
      <p:sp>
        <p:nvSpPr>
          <p:cNvPr id="8277" name="Rectangle 109"/>
          <p:cNvSpPr>
            <a:spLocks noChangeArrowheads="1"/>
          </p:cNvSpPr>
          <p:nvPr/>
        </p:nvSpPr>
        <p:spPr bwMode="auto">
          <a:xfrm>
            <a:off x="479425" y="1427163"/>
            <a:ext cx="859155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Arial" charset="0"/>
              </a:rPr>
              <a:t>Cinematch uses statistical techniques to identify similar users and recommend movies based on ratings of similar users.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905000" y="6019800"/>
            <a:ext cx="4476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NetFlix</a:t>
            </a:r>
            <a:r>
              <a:rPr lang="en-US" dirty="0" smtClean="0"/>
              <a:t> Data Available (</a:t>
            </a:r>
            <a:r>
              <a:rPr lang="en-US" dirty="0" err="1" smtClean="0"/>
              <a:t>NetFlix</a:t>
            </a:r>
            <a:r>
              <a:rPr lang="en-US" dirty="0" smtClean="0"/>
              <a:t> Challenge)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Recommender Impact: Substitution or Incremental Sales?</a:t>
            </a:r>
            <a:endParaRPr lang="en-US" dirty="0"/>
          </a:p>
        </p:txBody>
      </p:sp>
      <p:pic>
        <p:nvPicPr>
          <p:cNvPr id="4" name="Content Placeholder 3" descr="AMZN substitution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249" y="2057400"/>
            <a:ext cx="8872751" cy="3200400"/>
          </a:xfrm>
        </p:spPr>
      </p:pic>
      <p:sp>
        <p:nvSpPr>
          <p:cNvPr id="5" name="Oval 4"/>
          <p:cNvSpPr/>
          <p:nvPr/>
        </p:nvSpPr>
        <p:spPr>
          <a:xfrm>
            <a:off x="0" y="2667000"/>
            <a:ext cx="6248400" cy="2362200"/>
          </a:xfrm>
          <a:prstGeom prst="ellipse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248400" y="2590800"/>
            <a:ext cx="2895600" cy="2819400"/>
          </a:xfrm>
          <a:prstGeom prst="ellipse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on Volume 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err="1" smtClean="0"/>
              <a:t>Fleder</a:t>
            </a:r>
            <a:r>
              <a:rPr lang="en-US" dirty="0" smtClean="0"/>
              <a:t> &amp; </a:t>
            </a:r>
            <a:r>
              <a:rPr lang="en-US" dirty="0" err="1" smtClean="0"/>
              <a:t>Hosanagar</a:t>
            </a:r>
            <a:r>
              <a:rPr lang="en-US" dirty="0" smtClean="0"/>
              <a:t> 2007)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Results available in popular press(Billboard, Yahoo)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8" name="Chart 7"/>
          <p:cNvGraphicFramePr/>
          <p:nvPr/>
        </p:nvGraphicFramePr>
        <p:xfrm>
          <a:off x="838200" y="1600200"/>
          <a:ext cx="79248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Recommenders =&gt; Long Tail?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err="1" smtClean="0"/>
              <a:t>Fleder</a:t>
            </a:r>
            <a:r>
              <a:rPr lang="en-US" dirty="0" smtClean="0"/>
              <a:t> &amp; </a:t>
            </a:r>
            <a:r>
              <a:rPr lang="en-US" dirty="0" err="1" smtClean="0"/>
              <a:t>Hosanagar</a:t>
            </a:r>
            <a:r>
              <a:rPr lang="en-US" dirty="0" smtClean="0"/>
              <a:t> 2008)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Do recommenders (collaborative filters) foster discovery of obscure/niche items?</a:t>
            </a:r>
            <a:endParaRPr 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752600"/>
            <a:ext cx="4267200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64895" y="464868"/>
            <a:ext cx="8570575" cy="560432"/>
          </a:xfrm>
          <a:noFill/>
        </p:spPr>
        <p:txBody>
          <a:bodyPr/>
          <a:lstStyle/>
          <a:p>
            <a:pPr eaLnBrk="1" hangingPunct="1"/>
            <a:r>
              <a:rPr lang="en-US" sz="3700" b="0" dirty="0" smtClean="0"/>
              <a:t>Results</a:t>
            </a:r>
          </a:p>
        </p:txBody>
      </p:sp>
      <p:sp>
        <p:nvSpPr>
          <p:cNvPr id="48131" name="Text Box 4"/>
          <p:cNvSpPr txBox="1">
            <a:spLocks noChangeArrowheads="1"/>
          </p:cNvSpPr>
          <p:nvPr/>
        </p:nvSpPr>
        <p:spPr bwMode="auto">
          <a:xfrm>
            <a:off x="583142" y="1334670"/>
            <a:ext cx="7904822" cy="520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296" tIns="46648" rIns="93296" bIns="46648"/>
          <a:lstStyle/>
          <a:p>
            <a:pPr marL="466481" indent="-466481">
              <a:spcBef>
                <a:spcPct val="50000"/>
              </a:spcBef>
              <a:buFontTx/>
              <a:buAutoNum type="arabicPeriod"/>
            </a:pPr>
            <a:r>
              <a:rPr lang="en-US" sz="2300" dirty="0">
                <a:solidFill>
                  <a:srgbClr val="002C77"/>
                </a:solidFill>
              </a:rPr>
              <a:t>Collaborative filters can help enhance sales diversity (e.g., by increasing awareness) but …</a:t>
            </a:r>
            <a:br>
              <a:rPr lang="en-US" sz="2300" dirty="0">
                <a:solidFill>
                  <a:srgbClr val="002C77"/>
                </a:solidFill>
              </a:rPr>
            </a:br>
            <a:r>
              <a:rPr lang="en-US" sz="2300" dirty="0">
                <a:solidFill>
                  <a:srgbClr val="002C77"/>
                </a:solidFill>
              </a:rPr>
              <a:t>         </a:t>
            </a:r>
            <a:br>
              <a:rPr lang="en-US" sz="2300" dirty="0">
                <a:solidFill>
                  <a:srgbClr val="002C77"/>
                </a:solidFill>
              </a:rPr>
            </a:br>
            <a:r>
              <a:rPr lang="en-US" sz="2300" dirty="0">
                <a:solidFill>
                  <a:srgbClr val="002C77"/>
                </a:solidFill>
              </a:rPr>
              <a:t>        a design feature, namely the use of sales data to recommend products, can often come in the way and drive up sales </a:t>
            </a:r>
            <a:r>
              <a:rPr lang="en-US" sz="2300" dirty="0" smtClean="0">
                <a:solidFill>
                  <a:srgbClr val="002C77"/>
                </a:solidFill>
              </a:rPr>
              <a:t>concentration</a:t>
            </a:r>
            <a:endParaRPr lang="en-US" sz="2300" dirty="0">
              <a:solidFill>
                <a:srgbClr val="002C77"/>
              </a:solidFill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EEABD22-4897-4948-B672-0A592E45A0FB}" type="slidenum">
              <a:rPr lang="en-US" smtClean="0"/>
              <a:pPr/>
              <a:t>14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4895" y="464868"/>
            <a:ext cx="8342178" cy="560432"/>
          </a:xfrm>
          <a:noFill/>
        </p:spPr>
        <p:txBody>
          <a:bodyPr/>
          <a:lstStyle/>
          <a:p>
            <a:pPr algn="ctr" eaLnBrk="1" hangingPunct="1"/>
            <a:r>
              <a:rPr lang="en-US" sz="3700" b="0" dirty="0" smtClean="0"/>
              <a:t>Consumer level effects</a:t>
            </a:r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2"/>
          <a:srcRect l="9245" r="35551"/>
          <a:stretch>
            <a:fillRect/>
          </a:stretch>
        </p:blipFill>
        <p:spPr bwMode="auto">
          <a:xfrm>
            <a:off x="1752600" y="2133600"/>
            <a:ext cx="5787691" cy="2598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838200" y="1371601"/>
            <a:ext cx="7543800" cy="4516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6481" indent="-46648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300" dirty="0" smtClean="0">
                <a:solidFill>
                  <a:srgbClr val="002C77"/>
                </a:solidFill>
              </a:rPr>
              <a:t>Individual diversity can increase but aggregate diversity decreases</a:t>
            </a:r>
          </a:p>
          <a:p>
            <a:pPr marL="466481" indent="-466481">
              <a:spcBef>
                <a:spcPct val="50000"/>
              </a:spcBef>
              <a:buFontTx/>
              <a:buAutoNum type="arabicPeriod"/>
            </a:pPr>
            <a:endParaRPr lang="en-US" sz="2300" dirty="0" smtClean="0">
              <a:solidFill>
                <a:srgbClr val="002C77"/>
              </a:solidFill>
            </a:endParaRPr>
          </a:p>
          <a:p>
            <a:pPr marL="466481" indent="-466481">
              <a:spcBef>
                <a:spcPct val="50000"/>
              </a:spcBef>
              <a:buFontTx/>
              <a:buAutoNum type="arabicPeriod"/>
            </a:pPr>
            <a:endParaRPr lang="en-US" sz="2300" dirty="0" smtClean="0">
              <a:solidFill>
                <a:srgbClr val="002C77"/>
              </a:solidFill>
            </a:endParaRPr>
          </a:p>
          <a:p>
            <a:pPr marL="466481" indent="-466481">
              <a:spcBef>
                <a:spcPct val="50000"/>
              </a:spcBef>
              <a:buFontTx/>
              <a:buAutoNum type="arabicPeriod"/>
            </a:pPr>
            <a:endParaRPr lang="en-US" sz="2300" dirty="0" smtClean="0">
              <a:solidFill>
                <a:srgbClr val="002C77"/>
              </a:solidFill>
            </a:endParaRPr>
          </a:p>
          <a:p>
            <a:pPr marL="466481" indent="-466481">
              <a:spcBef>
                <a:spcPct val="50000"/>
              </a:spcBef>
              <a:buFontTx/>
              <a:buAutoNum type="arabicPeriod"/>
            </a:pPr>
            <a:endParaRPr lang="en-US" sz="2300" dirty="0" smtClean="0">
              <a:solidFill>
                <a:srgbClr val="002C77"/>
              </a:solidFill>
            </a:endParaRPr>
          </a:p>
          <a:p>
            <a:pPr marL="466481" indent="-466481">
              <a:spcBef>
                <a:spcPct val="50000"/>
              </a:spcBef>
              <a:buFont typeface="Arial" pitchFamily="34" charset="0"/>
              <a:buChar char="•"/>
            </a:pPr>
            <a:endParaRPr lang="en-US" sz="2300" dirty="0" smtClean="0">
              <a:solidFill>
                <a:srgbClr val="002C77"/>
              </a:solidFill>
            </a:endParaRPr>
          </a:p>
          <a:p>
            <a:pPr marL="466481" indent="-466481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300" dirty="0" smtClean="0">
                <a:solidFill>
                  <a:srgbClr val="002C77"/>
                </a:solidFill>
              </a:rPr>
              <a:t>Basic design choices affect the outcome</a:t>
            </a:r>
          </a:p>
          <a:p>
            <a:pPr marL="923681" lvl="1" indent="-466481">
              <a:spcBef>
                <a:spcPct val="50000"/>
              </a:spcBef>
            </a:pPr>
            <a:r>
              <a:rPr lang="en-US" sz="2300" dirty="0" smtClean="0">
                <a:solidFill>
                  <a:srgbClr val="002C77"/>
                </a:solidFill>
              </a:rPr>
              <a:t>	How do you foster discovery?</a:t>
            </a:r>
            <a:endParaRPr lang="en-US" sz="2300" dirty="0">
              <a:solidFill>
                <a:srgbClr val="002C77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67000" y="6096000"/>
            <a:ext cx="39789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000" dirty="0" smtClean="0">
                <a:solidFill>
                  <a:srgbClr val="002C77"/>
                </a:solidFill>
              </a:rPr>
              <a:t>Results available on web (SSRN)</a:t>
            </a:r>
            <a:endParaRPr lang="en-US" sz="2000" dirty="0">
              <a:solidFill>
                <a:srgbClr val="002C7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 Recommenders Work?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err="1" smtClean="0"/>
              <a:t>Fleder</a:t>
            </a:r>
            <a:r>
              <a:rPr lang="en-US" dirty="0" smtClean="0"/>
              <a:t> &amp; </a:t>
            </a:r>
            <a:r>
              <a:rPr lang="en-US" dirty="0" err="1" smtClean="0"/>
              <a:t>Hosanagar</a:t>
            </a:r>
            <a:r>
              <a:rPr lang="en-US" dirty="0" smtClean="0"/>
              <a:t> 2007)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Lots of biases in</a:t>
            </a:r>
          </a:p>
          <a:p>
            <a:pPr lvl="1"/>
            <a:r>
              <a:rPr lang="en-US" dirty="0" smtClean="0">
                <a:solidFill>
                  <a:srgbClr val="002C77"/>
                </a:solidFill>
              </a:rPr>
              <a:t>What people watch</a:t>
            </a:r>
          </a:p>
          <a:p>
            <a:pPr lvl="1"/>
            <a:r>
              <a:rPr lang="en-US" dirty="0" smtClean="0">
                <a:solidFill>
                  <a:srgbClr val="002C77"/>
                </a:solidFill>
              </a:rPr>
              <a:t>What people rate</a:t>
            </a:r>
          </a:p>
          <a:p>
            <a:r>
              <a:rPr lang="en-US" dirty="0" smtClean="0"/>
              <a:t>Most systems assume ratings missing at random … yet they work. Why?</a:t>
            </a:r>
          </a:p>
          <a:p>
            <a:endParaRPr lang="en-US" dirty="0" smtClean="0">
              <a:solidFill>
                <a:srgbClr val="CC3300"/>
              </a:solidFill>
            </a:endParaRPr>
          </a:p>
          <a:p>
            <a:r>
              <a:rPr lang="en-US" dirty="0" smtClean="0"/>
              <a:t>Test the impact of missing ratings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52400" y="3429000"/>
          <a:ext cx="8762999" cy="1463721"/>
        </p:xfrm>
        <a:graphic>
          <a:graphicData uri="http://schemas.openxmlformats.org/drawingml/2006/table">
            <a:tbl>
              <a:tblPr/>
              <a:tblGrid>
                <a:gridCol w="2054218"/>
                <a:gridCol w="1253421"/>
                <a:gridCol w="1416761"/>
                <a:gridCol w="1676400"/>
                <a:gridCol w="1143000"/>
                <a:gridCol w="1219199"/>
              </a:tblGrid>
              <a:tr h="439616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+mn-lt"/>
                          <a:ea typeface="Times New Roman"/>
                        </a:rPr>
                        <a:t>Random</a:t>
                      </a:r>
                      <a:endParaRPr lang="en-US" sz="1600" dirty="0">
                        <a:latin typeface="+mn-lt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+mn-lt"/>
                          <a:ea typeface="Times New Roman"/>
                        </a:rPr>
                        <a:t>NR </a:t>
                      </a:r>
                      <a:r>
                        <a:rPr lang="en-US" sz="1600" dirty="0">
                          <a:latin typeface="+mn-lt"/>
                          <a:ea typeface="Times New Roman"/>
                        </a:rPr>
                        <a:t>(a)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+mn-lt"/>
                          <a:ea typeface="Times New Roman"/>
                        </a:rPr>
                        <a:t>NR </a:t>
                      </a:r>
                      <a:r>
                        <a:rPr lang="en-US" sz="1600" dirty="0">
                          <a:latin typeface="+mn-lt"/>
                          <a:ea typeface="Times New Roman"/>
                        </a:rPr>
                        <a:t>(b)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+mn-lt"/>
                          <a:ea typeface="Times New Roman"/>
                        </a:rPr>
                        <a:t>NR </a:t>
                      </a:r>
                      <a:r>
                        <a:rPr lang="en-US" sz="1600" dirty="0">
                          <a:latin typeface="+mn-lt"/>
                          <a:ea typeface="Times New Roman"/>
                        </a:rPr>
                        <a:t>(c)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+mn-lt"/>
                          <a:ea typeface="Times New Roman"/>
                        </a:rPr>
                        <a:t>NR </a:t>
                      </a:r>
                      <a:r>
                        <a:rPr lang="en-US" sz="1600" dirty="0">
                          <a:latin typeface="+mn-lt"/>
                          <a:ea typeface="Times New Roman"/>
                        </a:rPr>
                        <a:t>(d)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64594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+mn-lt"/>
                          <a:ea typeface="Times New Roman"/>
                        </a:rPr>
                        <a:t>Chance missing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+mn-lt"/>
                          <a:ea typeface="Times New Roman"/>
                        </a:rPr>
                        <a:t>Equal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+mn-lt"/>
                          <a:ea typeface="Times New Roman"/>
                        </a:rPr>
                        <a:t>Increasing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+mn-lt"/>
                          <a:ea typeface="Times New Roman"/>
                        </a:rPr>
                        <a:t>Decreasing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+mn-lt"/>
                          <a:ea typeface="Times New Roman"/>
                        </a:rPr>
                        <a:t>U-Shape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+mn-lt"/>
                          <a:ea typeface="Times New Roman"/>
                        </a:rPr>
                        <a:t>Inverse-U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9616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+mn-lt"/>
                          <a:ea typeface="Times New Roman"/>
                        </a:rPr>
                        <a:t>Prediction error (E)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+mn-lt"/>
                          <a:ea typeface="Times New Roman"/>
                        </a:rPr>
                        <a:t>0.770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+mn-lt"/>
                          <a:ea typeface="Times New Roman"/>
                        </a:rPr>
                        <a:t>0.785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+mn-lt"/>
                          <a:ea typeface="Times New Roman"/>
                        </a:rPr>
                        <a:t>0.791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+mn-lt"/>
                          <a:ea typeface="Times New Roman"/>
                        </a:rPr>
                        <a:t>0.945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+mn-lt"/>
                          <a:ea typeface="Times New Roman"/>
                        </a:rPr>
                        <a:t>0.686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895">
                <a:tc gridSpan="6"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l="3850" t="42924" r="7594" b="34969"/>
          <a:stretch>
            <a:fillRect/>
          </a:stretch>
        </p:blipFill>
        <p:spPr bwMode="auto">
          <a:xfrm>
            <a:off x="2057400" y="1600200"/>
            <a:ext cx="6906381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5"/>
          <p:cNvSpPr/>
          <p:nvPr/>
        </p:nvSpPr>
        <p:spPr>
          <a:xfrm>
            <a:off x="7543800" y="1371600"/>
            <a:ext cx="1600200" cy="4038600"/>
          </a:xfrm>
          <a:prstGeom prst="ellipse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981200" y="1143000"/>
            <a:ext cx="1600200" cy="4038600"/>
          </a:xfrm>
          <a:prstGeom prst="ellipse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uiExpand="1" animBg="1"/>
      <p:bldP spid="7" grpId="0" animBg="1"/>
      <p:bldP spid="7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of Personalized Recommendations?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Discovery</a:t>
            </a:r>
          </a:p>
          <a:p>
            <a:r>
              <a:rPr lang="en-US" dirty="0" smtClean="0"/>
              <a:t>Fluid inter-site personalization</a:t>
            </a:r>
          </a:p>
          <a:p>
            <a:pPr lvl="1"/>
            <a:r>
              <a:rPr lang="en-US" dirty="0" smtClean="0"/>
              <a:t>Privacy</a:t>
            </a:r>
          </a:p>
          <a:p>
            <a:pPr lvl="1"/>
            <a:r>
              <a:rPr lang="en-US" dirty="0" smtClean="0"/>
              <a:t>Ownership</a:t>
            </a:r>
          </a:p>
          <a:p>
            <a:endParaRPr lang="en-US" dirty="0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2286000"/>
            <a:ext cx="3324225" cy="3084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447800" y="5715000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Contact: </a:t>
            </a:r>
            <a:r>
              <a:rPr lang="en-US" sz="2400" dirty="0" smtClean="0">
                <a:hlinkClick r:id="rId3"/>
              </a:rPr>
              <a:t>kartikh@wharton.upenn.edu</a:t>
            </a:r>
            <a:r>
              <a:rPr lang="en-US" sz="2400" dirty="0" smtClean="0"/>
              <a:t>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RESIZE" val="Yes"/>
</p:tagLst>
</file>

<file path=ppt/tags/tag2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HINKCELLSHAPEDONOTDELETE" val="prn2vMbp7k02HLVHqy5TXCg"/>
</p:tagLst>
</file>

<file path=ppt/tags/tag3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HINKCELLSHAPEDONOTDELETE" val="plcW7op7hzESgv6QQn8qYbQ"/>
</p:tagLst>
</file>

<file path=ppt/tags/tag4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HINKCELLSHAPEDONOTDELETE" val="prn2vMbp7k02HLVHqy5TXCg"/>
</p:tagLst>
</file>

<file path=ppt/tags/tag5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THINKCELLSHAPEDONOTDELETE" val="prn2vMbp7k02HLVHqy5TXCg"/>
</p:tagLst>
</file>

<file path=ppt/tags/tag6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TYLE" val="TTVSubjectTitle"/>
  <p:tag name="DATE" val="16/10/2006 07:05:45 a.m."/>
</p:tagLst>
</file>

<file path=ppt/tags/tag7.xml><?xml version="1.0" encoding="utf-8"?>
<p:tag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tag name="STYLE" val="TTVActionTitle"/>
  <p:tag name="DATE" val="10/18/2006 6:55:13 PM"/>
</p:tagLst>
</file>

<file path=ppt/theme/theme1.xml><?xml version="1.0" encoding="utf-8"?>
<a:theme xmlns:a="http://schemas.openxmlformats.org/drawingml/2006/main" name="Kartik Template 9-4-07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Kartik Template 9-4-07</Template>
  <TotalTime>9947</TotalTime>
  <Words>773</Words>
  <Application>Microsoft Office PowerPoint</Application>
  <PresentationFormat>On-screen Show (4:3)</PresentationFormat>
  <Paragraphs>141</Paragraphs>
  <Slides>18</Slides>
  <Notes>6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Kartik Template 9-4-07</vt:lpstr>
      <vt:lpstr>The Present and Future of  Personalized Recommendations</vt:lpstr>
      <vt:lpstr>Personalized Retail</vt:lpstr>
      <vt:lpstr>Personalized Radio</vt:lpstr>
      <vt:lpstr>Personalized News</vt:lpstr>
      <vt:lpstr>3rd Party Providers</vt:lpstr>
      <vt:lpstr>Why are Recommenders Important?</vt:lpstr>
      <vt:lpstr>Recommender Design</vt:lpstr>
      <vt:lpstr>The Amazon Approach</vt:lpstr>
      <vt:lpstr>The Netflix Approach</vt:lpstr>
      <vt:lpstr>Cinematch Engine</vt:lpstr>
      <vt:lpstr>Recommender Impact: Substitution or Incremental Sales?</vt:lpstr>
      <vt:lpstr>Impact on Volume  (Fleder &amp; Hosanagar 2007)</vt:lpstr>
      <vt:lpstr>Recommenders =&gt; Long Tail? (Fleder &amp; Hosanagar 2008)</vt:lpstr>
      <vt:lpstr>Results</vt:lpstr>
      <vt:lpstr>Consumer level effects</vt:lpstr>
      <vt:lpstr>Why do Recommenders Work? (Fleder &amp; Hosanagar 2007)</vt:lpstr>
      <vt:lpstr>Results</vt:lpstr>
      <vt:lpstr>Future of Personalized Recommendations?</vt:lpstr>
    </vt:vector>
  </TitlesOfParts>
  <LinksUpToDate>false</LinksUpToDate>
  <SharedDoc>false</SharedDoc>
  <HyperlinksChanged>false</HyperlinksChanged>
  <AppVersion>12.0256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CTR &amp; CONV</dc:title>
  <dc:creator>Tepper School of Business</dc:creator>
  <cp:lastModifiedBy>Wharton School</cp:lastModifiedBy>
  <cp:revision>82</cp:revision>
  <dcterms:created xsi:type="dcterms:W3CDTF">2008-06-20T21:28:40Z</dcterms:created>
  <dcterms:modified xsi:type="dcterms:W3CDTF">2008-06-20T23:59:22Z</dcterms:modified>
</cp:coreProperties>
</file>